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4653afa-529b-9e7c-46cf-ba27876694b5}">
          <p14:sldIdLst>
            <p14:sldId id="256"/>
          </p14:sldIdLst>
        </p14:section>
        <p14:section name="Problem" id="{498c3d54-29f3-385c-301e-fe13664fe1d3}">
          <p14:sldIdLst>
            <p14:sldId id="257"/>
          </p14:sldIdLst>
        </p14:section>
        <p14:section name="Data and AI" id="{5ee5b52f-d0fd-8d24-f55e-71db51a8f9d6}">
          <p14:sldIdLst>
            <p14:sldId id="258"/>
          </p14:sldIdLst>
        </p14:section>
        <p14:section name="Solution" id="{82408cf2-ba01-dc9e-0bf4-18ee0d77c363}">
          <p14:sldIdLst>
            <p14:sldId id="259"/>
            <p14:sldId id="260"/>
          </p14:sldIdLst>
        </p14:section>
        <p14:section name="Impact" id="{8a942cf4-ba92-bcf2-5e39-e21c07d44585}">
          <p14:sldIdLst>
            <p14:sldId id="261"/>
            <p14:sldId id="262"/>
          </p14:sldIdLst>
        </p14:section>
        <p14:section name="Build and trust" id="{1516b890-1df7-775f-9f17-56d02dc8c413}">
          <p14:sldIdLst>
            <p14:sldId id="263"/>
          </p14:sldIdLst>
        </p14:section>
        <p14:section name="Close" id="{51e5f2e1-f34c-e980-6352-f03cd9388a9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[0:00–0:12 · 12 s]
Assalam-o-alaikum. We are Team CodeStorm, Financial Operations track. This is Faisla, Urdu for “decision”: a CFO in a box for Pakistani small businesses, built Islamic finance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[0:12–0:52 · 40 s]
Meet Hamza Garments in Faisalabad: an exporter with one crore in the bank, thirty-five lakh a month in costs, and no finance team. Hamza needs eighty new lockstitch machines.
Supplier A quotes sixty lakh, with “easy installments, zero percent markup”. Sounds free. It isn’t: twelve times five lakh is four lakh eighty thousand more than the cash price.
Owners like Hamza make the same four mistakes again and again: they don’t see the cost of paying later, they miss cheap Shariah-compliant financing, they ignore tax, and they pay cash and run short for salaries.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[0:52–1:40 · 48 s]
The inputs are what an owner already has: a photo of the quotation, Roman Urdu supplier replies, web prices and reviews, the company’s cash and costs, and SBP rates.
AI does the reading: the photo into fields, a reply like “sixty-seven hazar per unit” into a price, web listings and reviews into clean data. It also writes the emails and the memo.
AI never does the maths. Code calculates every rupee, and the owner confirms every field.
Guardrails: a price is kept only if it is written in the source, memo numbers are checked against the calculation, and fraud levels come from rules. Models were chosen per task by benchmark; a full decision costs about a fifth of a US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[1:40–2:28 · 48 s]  (Live option: show these three moments on the seeded decision “80 × Jack F5 lockstitch machines” in the app instead of this slide; keep to 48 s.)
Here is Hamza’s result. Faisla checked the market: the quote is about 9% above our benchmark, and real OLX listings put the median at seventy thousand a machine. It found Supplier B, who replied in Roman Urdu at sixty-seven thousand. Then code compared every way to pay.
Three money moments. One: the “0%” plan is a deferred-price sale; paying later costs 16.9% a year.
Two: Hamza is an exporter, so SBP’s Islamic LTFF at 8.5% wins, and Faisla recommends it.
Three: an email arrives saying “our bank account has changed, pay today”. Faisla flags the new IBAN, the wrong account title and the Gmail address, and blocks payment until Hamza confirms by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[2:28–3:05 · 37 s]
Faisla is Islamic finance first. By default it only compares Shariah-compliant options: Islamic LTFF, Ijarah, Diminishing Musharakah, and Murabaha as a preset, each with its correct tax treatment. Conventional loans appear only if the owner asks, labelled, and never recommended.
Why now? The 26th Amendment commits Pakistan to eliminating riba before the first of January 2028, and Islamic banks already hold over a third of bank financing.
And if an owner would rather not finance at all, one switch recommends paying in full whenever cash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[3:05–3:40 · 35 s]
The impact of one decision: five lakh seventy-nine thousand rupees saved against the quoted plan, four lakh seventy-three thousand even after tax. Hamza keeps two and a half months of costs in the bank; paying cash would leave just over one. The fraud email is stopped before any money moves. And the AI costs about a fifth of a cent.
This supports SDG 8.3, SME growth; 8.10, access to financial services; and 9.3, affordable credit for small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[3:40–4:00 · 20 s]
It covers all five areas of the Financial Operations brief in one flow: planning, credit and risk, accounting automation, payments and fraud detection.
Who pays: SMEs on a monthly plan; Islamic banks, who receive clean, documented financing requests; and suppliers listed in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[4:00–4:35 · 35 s]
Everything here was built during AICON’26; the commit history starts on the tenth of October. We built the finance engine in pure TypeScript, nine AI tasks each followed by a code check, the fraud rules, the email loop, and the app on Next.js, MongoDB Atlas and Vercel. 145 automated tests pin every number you saw.
Honest disclosure: the company, supplier names and benchmark are simulated and labelled; market prices and reviews are real, with links. We used AI coding assistants, as the rules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[4:35–4:50 · 15 s]
Scan to try it; the demo login is on screen. Next we add WhatsApp quotes, payment tracking after the decision, and Urdu. AI reads, code calculates, the owner decides. That’s Faisla. Thank you.
(Total talk track about 4:50 at a calm pace, leaving slack inside the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4415"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19088"/>
            <a:ext cx="6400800" cy="228600"/>
          </a:xfrm>
          <a:prstGeom prst="rect">
            <a:avLst/>
          </a:prstGeom>
          <a:noFill/>
          <a:ln/>
        </p:spPr>
        <p:txBody>
          <a:bodyPr wrap="square" lIns="0" tIns="0" rIns="0" bIns="0" rtlCol="0" anchor="ctr"/>
          <a:lstStyle/>
          <a:p>
            <a:pPr indent="0" marL="0">
              <a:buNone/>
            </a:pPr>
            <a:r>
              <a:rPr lang="en-US" sz="1000" dirty="0">
                <a:solidFill>
                  <a:schemeClr val="accent4"/>
                </a:solidFill>
                <a:latin typeface="Consolas" pitchFamily="34" charset="0"/>
                <a:ea typeface="Consolas" pitchFamily="34" charset="-122"/>
                <a:cs typeface="Consolas" pitchFamily="34" charset="-120"/>
              </a:rPr>
              <a:t>Faisla  ·  Team CodeStorm  ·  AICON'26 Build With AI</a:t>
            </a:r>
            <a:endParaRPr lang="en-US" sz="10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5C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6949440" cy="1371600"/>
          </a:xfrm>
          <a:prstGeom prst="rect">
            <a:avLst/>
          </a:prstGeom>
          <a:noFill/>
          <a:ln/>
        </p:spPr>
        <p:txBody>
          <a:bodyPr wrap="square" rtlCol="0"/>
          <a:lstStyle>
            <a:lvl1pPr algn="l" indent="0" marL="0">
              <a:buNone/>
              <a:defRPr lang="en-US" sz="8800" b="1" dirty="0">
                <a:solidFill>
                  <a:schemeClr val="bg1"/>
                </a:solidFill>
              </a:defRPr>
            </a:lvl1pPr>
          </a:lstStyle>
          <a:p>
            <a:pPr algn="l" indent="0" marL="0">
              <a:buNone/>
            </a:pPr>
            <a:endParaRPr lang="en-US" sz="8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F5C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694944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6949440" cy="1371600"/>
          </a:xfrm>
          <a:prstGeom prst="rect">
            <a:avLst/>
          </a:prstGeom>
          <a:noFill/>
          <a:ln/>
        </p:spPr>
        <p:txBody>
          <a:bodyPr wrap="square" lIns="0" tIns="0" rIns="0" bIns="0" rtlCol="0" anchor="t"/>
          <a:lstStyle/>
          <a:p>
            <a:pPr algn="l" indent="0" marL="0">
              <a:buNone/>
            </a:pPr>
            <a:r>
              <a:rPr lang="en-US" sz="8800" b="1" dirty="0">
                <a:solidFill>
                  <a:schemeClr val="bg1"/>
                </a:solidFill>
              </a:rPr>
              <a:t>Faisla</a:t>
            </a:r>
            <a:endParaRPr lang="en-US" sz="8800" dirty="0"/>
          </a:p>
        </p:txBody>
      </p:sp>
      <p:sp>
        <p:nvSpPr>
          <p:cNvPr id="3" name="text-1"/>
          <p:cNvSpPr txBox="1"/>
          <p:nvPr/>
        </p:nvSpPr>
        <p:spPr>
          <a:xfrm>
            <a:off x="548640" y="2194560"/>
            <a:ext cx="1005840" cy="685800"/>
          </a:xfrm>
          <a:prstGeom prst="rect">
            <a:avLst/>
          </a:prstGeom>
          <a:noFill/>
          <a:ln/>
        </p:spPr>
        <p:txBody>
          <a:bodyPr wrap="square" lIns="0" tIns="0" rIns="0" bIns="0" rtlCol="0" anchor="t"/>
          <a:lstStyle/>
          <a:p>
            <a:pPr algn="l" indent="0" marL="0">
              <a:buNone/>
            </a:pPr>
            <a:r>
              <a:rPr lang="en-US" sz="3200" dirty="0">
                <a:solidFill>
                  <a:schemeClr val="bg2"/>
                </a:solidFill>
              </a:rPr>
              <a:t>فیصلہ</a:t>
            </a:r>
            <a:endParaRPr lang="en-US" sz="3200" dirty="0"/>
          </a:p>
        </p:txBody>
      </p:sp>
      <p:sp>
        <p:nvSpPr>
          <p:cNvPr id="4" name="text-2"/>
          <p:cNvSpPr txBox="1"/>
          <p:nvPr/>
        </p:nvSpPr>
        <p:spPr>
          <a:xfrm>
            <a:off x="1645920" y="2286000"/>
            <a:ext cx="5029200" cy="548640"/>
          </a:xfrm>
          <a:prstGeom prst="rect">
            <a:avLst/>
          </a:prstGeom>
          <a:noFill/>
          <a:ln/>
        </p:spPr>
        <p:txBody>
          <a:bodyPr wrap="square" lIns="0" tIns="0" rIns="0" bIns="0" rtlCol="0" anchor="t"/>
          <a:lstStyle/>
          <a:p>
            <a:pPr indent="0" marL="0">
              <a:buNone/>
            </a:pPr>
            <a:r>
              <a:rPr lang="en-US" sz="2600" dirty="0">
                <a:solidFill>
                  <a:schemeClr val="bg2"/>
                </a:solidFill>
              </a:rPr>
              <a:t>“decision” in Urdu</a:t>
            </a:r>
            <a:endParaRPr lang="en-US" sz="2600" dirty="0"/>
          </a:p>
        </p:txBody>
      </p:sp>
      <p:sp>
        <p:nvSpPr>
          <p:cNvPr id="5" name="text-3"/>
          <p:cNvSpPr txBox="1"/>
          <p:nvPr/>
        </p:nvSpPr>
        <p:spPr>
          <a:xfrm>
            <a:off x="548640" y="3154680"/>
            <a:ext cx="6766560" cy="548640"/>
          </a:xfrm>
          <a:prstGeom prst="rect">
            <a:avLst/>
          </a:prstGeom>
          <a:noFill/>
          <a:ln/>
        </p:spPr>
        <p:txBody>
          <a:bodyPr wrap="square" lIns="0" tIns="0" rIns="0" bIns="0" rtlCol="0" anchor="t"/>
          <a:lstStyle/>
          <a:p>
            <a:pPr indent="0" marL="0">
              <a:buNone/>
            </a:pPr>
            <a:r>
              <a:rPr lang="en-US" sz="3000" b="1" dirty="0">
                <a:solidFill>
                  <a:schemeClr val="bg1"/>
                </a:solidFill>
              </a:rPr>
              <a:t>CFO-in-a-box for Pakistani SMEs</a:t>
            </a:r>
            <a:endParaRPr lang="en-US" sz="3000" dirty="0"/>
          </a:p>
        </p:txBody>
      </p:sp>
      <p:sp>
        <p:nvSpPr>
          <p:cNvPr id="6" name="text-4"/>
          <p:cNvSpPr txBox="1"/>
          <p:nvPr/>
        </p:nvSpPr>
        <p:spPr>
          <a:xfrm>
            <a:off x="548640" y="3794760"/>
            <a:ext cx="6583680" cy="731520"/>
          </a:xfrm>
          <a:prstGeom prst="rect">
            <a:avLst/>
          </a:prstGeom>
          <a:noFill/>
          <a:ln/>
        </p:spPr>
        <p:txBody>
          <a:bodyPr wrap="square" lIns="0" tIns="0" rIns="0" bIns="0" rtlCol="0" anchor="t"/>
          <a:lstStyle/>
          <a:p>
            <a:pPr indent="0" marL="0">
              <a:buNone/>
            </a:pPr>
            <a:r>
              <a:rPr lang="en-US" sz="1800" dirty="0">
                <a:solidFill>
                  <a:schemeClr val="bg2"/>
                </a:solidFill>
              </a:rPr>
              <a:t>Islamic finance first. AI reads, code calculates, the owner decides.</a:t>
            </a:r>
            <a:endParaRPr lang="en-US" sz="1800" dirty="0"/>
          </a:p>
        </p:txBody>
      </p:sp>
      <p:sp>
        <p:nvSpPr>
          <p:cNvPr id="7" name="text-5"/>
          <p:cNvSpPr txBox="1"/>
          <p:nvPr/>
        </p:nvSpPr>
        <p:spPr>
          <a:xfrm>
            <a:off x="548640" y="5989320"/>
            <a:ext cx="7772400" cy="274320"/>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Team CodeStorm  ·  AICON'26 Build With AI  ·  Financial Operations</a:t>
            </a:r>
            <a:endParaRPr lang="en-US" sz="1400" dirty="0"/>
          </a:p>
        </p:txBody>
      </p:sp>
      <p:sp>
        <p:nvSpPr>
          <p:cNvPr id="8" name="ledger-card-6"/>
          <p:cNvSpPr/>
          <p:nvPr/>
        </p:nvSpPr>
        <p:spPr>
          <a:xfrm>
            <a:off x="7818120" y="1051560"/>
            <a:ext cx="3822192" cy="4480560"/>
          </a:xfrm>
          <a:prstGeom prst="rect">
            <a:avLst/>
          </a:prstGeom>
          <a:solidFill>
            <a:schemeClr val="bg2"/>
          </a:solidFill>
          <a:ln/>
        </p:spPr>
      </p:sp>
      <p:sp>
        <p:nvSpPr>
          <p:cNvPr id="9" name="text-7"/>
          <p:cNvSpPr txBox="1"/>
          <p:nvPr/>
        </p:nvSpPr>
        <p:spPr>
          <a:xfrm>
            <a:off x="8092440" y="1325880"/>
            <a:ext cx="3273552" cy="274320"/>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HAMZA GARMENTS · 80 × JACK F5</a:t>
            </a:r>
            <a:endParaRPr lang="en-US" sz="1100" dirty="0"/>
          </a:p>
        </p:txBody>
      </p:sp>
      <p:sp>
        <p:nvSpPr>
          <p:cNvPr id="10" name="rule-8"/>
          <p:cNvSpPr/>
          <p:nvPr/>
        </p:nvSpPr>
        <p:spPr>
          <a:xfrm>
            <a:off x="8092440" y="1709928"/>
            <a:ext cx="3273552" cy="0"/>
          </a:xfrm>
          <a:prstGeom prst="line">
            <a:avLst/>
          </a:prstGeom>
          <a:noFill/>
          <a:ln w="19050">
            <a:solidFill>
              <a:schemeClr val="tx1"/>
            </a:solidFill>
            <a:prstDash val="solid"/>
          </a:ln>
        </p:spPr>
      </p:sp>
      <p:sp>
        <p:nvSpPr>
          <p:cNvPr id="11" name="text-9"/>
          <p:cNvSpPr txBox="1"/>
          <p:nvPr/>
        </p:nvSpPr>
        <p:spPr>
          <a:xfrm>
            <a:off x="8092440" y="1892808"/>
            <a:ext cx="3273552" cy="256032"/>
          </a:xfrm>
          <a:prstGeom prst="rect">
            <a:avLst/>
          </a:prstGeom>
          <a:noFill/>
          <a:ln/>
        </p:spPr>
        <p:txBody>
          <a:bodyPr wrap="square" lIns="0" tIns="0" rIns="0" bIns="0" rtlCol="0" anchor="t"/>
          <a:lstStyle/>
          <a:p>
            <a:pPr indent="0" marL="0">
              <a:buNone/>
            </a:pPr>
            <a:r>
              <a:rPr lang="en-US" sz="1200" dirty="0">
                <a:solidFill>
                  <a:schemeClr val="accent4"/>
                </a:solidFill>
              </a:rPr>
              <a:t>Quoted plan</a:t>
            </a:r>
            <a:endParaRPr lang="en-US" sz="1200" dirty="0"/>
          </a:p>
        </p:txBody>
      </p:sp>
      <p:sp>
        <p:nvSpPr>
          <p:cNvPr id="12" name="text-10"/>
          <p:cNvSpPr txBox="1"/>
          <p:nvPr/>
        </p:nvSpPr>
        <p:spPr>
          <a:xfrm>
            <a:off x="8092440" y="2167128"/>
            <a:ext cx="3273552" cy="411480"/>
          </a:xfrm>
          <a:prstGeom prst="rect">
            <a:avLst/>
          </a:prstGeom>
          <a:noFill/>
          <a:ln/>
        </p:spPr>
        <p:txBody>
          <a:bodyPr wrap="square" lIns="0" tIns="0" rIns="0" bIns="0" rtlCol="0" anchor="t"/>
          <a:lstStyle/>
          <a:p>
            <a:pPr indent="0" marL="0">
              <a:buNone/>
            </a:pPr>
            <a:r>
              <a:rPr lang="en-US" sz="2400" b="1" dirty="0">
                <a:solidFill>
                  <a:schemeClr val="tx1"/>
                </a:solidFill>
                <a:latin typeface="Consolas" pitchFamily="34" charset="0"/>
                <a:ea typeface="Consolas" pitchFamily="34" charset="-122"/>
                <a:cs typeface="Consolas" pitchFamily="34" charset="-120"/>
              </a:rPr>
              <a:t>Rs 60,00,000</a:t>
            </a:r>
            <a:endParaRPr lang="en-US" sz="2400" dirty="0"/>
          </a:p>
        </p:txBody>
      </p:sp>
      <p:sp>
        <p:nvSpPr>
          <p:cNvPr id="13" name="text-11"/>
          <p:cNvSpPr txBox="1"/>
          <p:nvPr/>
        </p:nvSpPr>
        <p:spPr>
          <a:xfrm>
            <a:off x="8092440" y="2606040"/>
            <a:ext cx="3273552" cy="237744"/>
          </a:xfrm>
          <a:prstGeom prst="rect">
            <a:avLst/>
          </a:prstGeom>
          <a:noFill/>
          <a:ln/>
        </p:spPr>
        <p:txBody>
          <a:bodyPr wrap="square" lIns="0" tIns="0" rIns="0" bIns="0" rtlCol="0" anchor="t"/>
          <a:lstStyle/>
          <a:p>
            <a:pPr indent="0" marL="0">
              <a:buNone/>
            </a:pPr>
            <a:r>
              <a:rPr lang="en-US" sz="1200" dirty="0">
                <a:solidFill>
                  <a:schemeClr val="accent4"/>
                </a:solidFill>
              </a:rPr>
              <a:t>“0% markup”, 12 × Rs 5 lakh</a:t>
            </a:r>
            <a:endParaRPr lang="en-US" sz="1200" dirty="0"/>
          </a:p>
        </p:txBody>
      </p:sp>
      <p:sp>
        <p:nvSpPr>
          <p:cNvPr id="14" name="rule-12"/>
          <p:cNvSpPr/>
          <p:nvPr/>
        </p:nvSpPr>
        <p:spPr>
          <a:xfrm>
            <a:off x="8092440" y="2962656"/>
            <a:ext cx="3273552" cy="0"/>
          </a:xfrm>
          <a:prstGeom prst="line">
            <a:avLst/>
          </a:prstGeom>
          <a:noFill/>
          <a:ln w="9525">
            <a:solidFill>
              <a:schemeClr val="accent5"/>
            </a:solidFill>
            <a:prstDash val="solid"/>
          </a:ln>
        </p:spPr>
      </p:sp>
      <p:sp>
        <p:nvSpPr>
          <p:cNvPr id="15" name="text-13"/>
          <p:cNvSpPr txBox="1"/>
          <p:nvPr/>
        </p:nvSpPr>
        <p:spPr>
          <a:xfrm>
            <a:off x="8092440" y="3081528"/>
            <a:ext cx="3273552" cy="256032"/>
          </a:xfrm>
          <a:prstGeom prst="rect">
            <a:avLst/>
          </a:prstGeom>
          <a:noFill/>
          <a:ln/>
        </p:spPr>
        <p:txBody>
          <a:bodyPr wrap="square" lIns="0" tIns="0" rIns="0" bIns="0" rtlCol="0" anchor="t"/>
          <a:lstStyle/>
          <a:p>
            <a:pPr indent="0" marL="0">
              <a:buNone/>
            </a:pPr>
            <a:r>
              <a:rPr lang="en-US" sz="1200" dirty="0">
                <a:solidFill>
                  <a:schemeClr val="accent4"/>
                </a:solidFill>
              </a:rPr>
              <a:t>Faisla’s pick</a:t>
            </a:r>
            <a:endParaRPr lang="en-US" sz="1200" dirty="0"/>
          </a:p>
        </p:txBody>
      </p:sp>
      <p:sp>
        <p:nvSpPr>
          <p:cNvPr id="16" name="text-14"/>
          <p:cNvSpPr txBox="1"/>
          <p:nvPr/>
        </p:nvSpPr>
        <p:spPr>
          <a:xfrm>
            <a:off x="8092440" y="3355848"/>
            <a:ext cx="3273552" cy="411480"/>
          </a:xfrm>
          <a:prstGeom prst="rect">
            <a:avLst/>
          </a:prstGeom>
          <a:noFill/>
          <a:ln/>
        </p:spPr>
        <p:txBody>
          <a:bodyPr wrap="square" lIns="0" tIns="0" rIns="0" bIns="0" rtlCol="0" anchor="t"/>
          <a:lstStyle/>
          <a:p>
            <a:pPr indent="0" marL="0">
              <a:buNone/>
            </a:pPr>
            <a:r>
              <a:rPr lang="en-US" sz="2400" b="1" dirty="0">
                <a:solidFill>
                  <a:schemeClr val="accent1"/>
                </a:solidFill>
                <a:latin typeface="Consolas" pitchFamily="34" charset="0"/>
                <a:ea typeface="Consolas" pitchFamily="34" charset="-122"/>
                <a:cs typeface="Consolas" pitchFamily="34" charset="-120"/>
              </a:rPr>
              <a:t>Islamic LTFF</a:t>
            </a:r>
            <a:endParaRPr lang="en-US" sz="2400" dirty="0"/>
          </a:p>
        </p:txBody>
      </p:sp>
      <p:sp>
        <p:nvSpPr>
          <p:cNvPr id="17" name="text-15"/>
          <p:cNvSpPr txBox="1"/>
          <p:nvPr/>
        </p:nvSpPr>
        <p:spPr>
          <a:xfrm>
            <a:off x="8092440" y="3794760"/>
            <a:ext cx="3273552" cy="237744"/>
          </a:xfrm>
          <a:prstGeom prst="rect">
            <a:avLst/>
          </a:prstGeom>
          <a:noFill/>
          <a:ln/>
        </p:spPr>
        <p:txBody>
          <a:bodyPr wrap="square" lIns="0" tIns="0" rIns="0" bIns="0" rtlCol="0" anchor="t"/>
          <a:lstStyle/>
          <a:p>
            <a:pPr indent="0" marL="0">
              <a:buNone/>
            </a:pPr>
            <a:r>
              <a:rPr lang="en-US" sz="1200" dirty="0">
                <a:solidFill>
                  <a:schemeClr val="accent4"/>
                </a:solidFill>
              </a:rPr>
              <a:t>SBP scheme, 8.5% profit rate</a:t>
            </a:r>
            <a:endParaRPr lang="en-US" sz="1200" dirty="0"/>
          </a:p>
        </p:txBody>
      </p:sp>
      <p:sp>
        <p:nvSpPr>
          <p:cNvPr id="18" name="rule-16"/>
          <p:cNvSpPr/>
          <p:nvPr/>
        </p:nvSpPr>
        <p:spPr>
          <a:xfrm>
            <a:off x="8092440" y="4151376"/>
            <a:ext cx="3273552" cy="0"/>
          </a:xfrm>
          <a:prstGeom prst="line">
            <a:avLst/>
          </a:prstGeom>
          <a:noFill/>
          <a:ln w="9525">
            <a:solidFill>
              <a:schemeClr val="accent5"/>
            </a:solidFill>
            <a:prstDash val="solid"/>
          </a:ln>
        </p:spPr>
      </p:sp>
      <p:sp>
        <p:nvSpPr>
          <p:cNvPr id="19" name="text-17"/>
          <p:cNvSpPr txBox="1"/>
          <p:nvPr/>
        </p:nvSpPr>
        <p:spPr>
          <a:xfrm>
            <a:off x="8092440" y="4270248"/>
            <a:ext cx="3273552" cy="256032"/>
          </a:xfrm>
          <a:prstGeom prst="rect">
            <a:avLst/>
          </a:prstGeom>
          <a:noFill/>
          <a:ln/>
        </p:spPr>
        <p:txBody>
          <a:bodyPr wrap="square" lIns="0" tIns="0" rIns="0" bIns="0" rtlCol="0" anchor="t"/>
          <a:lstStyle/>
          <a:p>
            <a:pPr indent="0" marL="0">
              <a:buNone/>
            </a:pPr>
            <a:r>
              <a:rPr lang="en-US" sz="1200" dirty="0">
                <a:solidFill>
                  <a:schemeClr val="accent4"/>
                </a:solidFill>
              </a:rPr>
              <a:t>Saved</a:t>
            </a:r>
            <a:endParaRPr lang="en-US" sz="1200" dirty="0"/>
          </a:p>
        </p:txBody>
      </p:sp>
      <p:sp>
        <p:nvSpPr>
          <p:cNvPr id="20" name="text-18"/>
          <p:cNvSpPr txBox="1"/>
          <p:nvPr/>
        </p:nvSpPr>
        <p:spPr>
          <a:xfrm>
            <a:off x="8092440" y="4544568"/>
            <a:ext cx="3273552" cy="411480"/>
          </a:xfrm>
          <a:prstGeom prst="rect">
            <a:avLst/>
          </a:prstGeom>
          <a:noFill/>
          <a:ln/>
        </p:spPr>
        <p:txBody>
          <a:bodyPr wrap="square" lIns="0" tIns="0" rIns="0" bIns="0" rtlCol="0" anchor="t"/>
          <a:lstStyle/>
          <a:p>
            <a:pPr indent="0" marL="0">
              <a:buNone/>
            </a:pPr>
            <a:r>
              <a:rPr lang="en-US" sz="2400" b="1" dirty="0">
                <a:solidFill>
                  <a:schemeClr val="accent1"/>
                </a:solidFill>
                <a:latin typeface="Consolas" pitchFamily="34" charset="0"/>
                <a:ea typeface="Consolas" pitchFamily="34" charset="-122"/>
                <a:cs typeface="Consolas" pitchFamily="34" charset="-120"/>
              </a:rPr>
              <a:t>Rs 5,79,103</a:t>
            </a:r>
            <a:endParaRPr lang="en-US" sz="2400" dirty="0"/>
          </a:p>
        </p:txBody>
      </p:sp>
      <p:sp>
        <p:nvSpPr>
          <p:cNvPr id="21" name="text-19"/>
          <p:cNvSpPr txBox="1"/>
          <p:nvPr/>
        </p:nvSpPr>
        <p:spPr>
          <a:xfrm>
            <a:off x="8092440" y="4983480"/>
            <a:ext cx="3273552" cy="237744"/>
          </a:xfrm>
          <a:prstGeom prst="rect">
            <a:avLst/>
          </a:prstGeom>
          <a:noFill/>
          <a:ln/>
        </p:spPr>
        <p:txBody>
          <a:bodyPr wrap="square" lIns="0" tIns="0" rIns="0" bIns="0" rtlCol="0" anchor="t"/>
          <a:lstStyle/>
          <a:p>
            <a:pPr indent="0" marL="0">
              <a:buNone/>
            </a:pPr>
            <a:r>
              <a:rPr lang="en-US" sz="1200" dirty="0">
                <a:solidFill>
                  <a:schemeClr val="accent4"/>
                </a:solidFill>
              </a:rPr>
              <a:t>Rs 4,73,603 after tax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20"/>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onsolas" pitchFamily="34" charset="0"/>
                <a:ea typeface="Consolas" pitchFamily="34" charset="-122"/>
                <a:cs typeface="Consolas" pitchFamily="34" charset="-120"/>
              </a:rPr>
              <a:t>PROBLEM</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DATA / INPUT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AI COMPONENT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SOLUTION</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IMPACT</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“0% markup” is not free</a:t>
            </a:r>
            <a:endParaRPr lang="en-US" sz="3600" dirty="0"/>
          </a:p>
        </p:txBody>
      </p:sp>
      <p:pic>
        <p:nvPicPr>
          <p:cNvPr id="4" name="image-21" descr="quotation-terms.png">    </p:cNvPr>
          <p:cNvPicPr>
            <a:picLocks noChangeAspect="1"/>
          </p:cNvPicPr>
          <p:nvPr/>
        </p:nvPicPr>
        <p:blipFill>
          <a:blip r:embed="rId1"/>
          <a:stretch>
            <a:fillRect/>
          </a:stretch>
        </p:blipFill>
        <p:spPr>
          <a:xfrm>
            <a:off x="548640" y="1600200"/>
            <a:ext cx="6035040" cy="3689057"/>
          </a:xfrm>
          <a:prstGeom prst="rect">
            <a:avLst/>
          </a:prstGeom>
        </p:spPr>
      </p:pic>
      <p:sp>
        <p:nvSpPr>
          <p:cNvPr id="5" name="frame-22"/>
          <p:cNvSpPr/>
          <p:nvPr/>
        </p:nvSpPr>
        <p:spPr>
          <a:xfrm>
            <a:off x="548640" y="1600200"/>
            <a:ext cx="6035040" cy="3689057"/>
          </a:xfrm>
          <a:prstGeom prst="rect">
            <a:avLst/>
          </a:prstGeom>
          <a:solidFill>
            <a:srgbClr val="FFFFFF">
              <a:alpha val="0"/>
            </a:srgbClr>
          </a:solidFill>
          <a:ln w="9525">
            <a:solidFill>
              <a:schemeClr val="accent5"/>
            </a:solidFill>
            <a:prstDash val="solid"/>
          </a:ln>
        </p:spPr>
      </p:sp>
      <p:sp>
        <p:nvSpPr>
          <p:cNvPr id="6" name="text-23"/>
          <p:cNvSpPr txBox="1"/>
          <p:nvPr/>
        </p:nvSpPr>
        <p:spPr>
          <a:xfrm>
            <a:off x="548640" y="5398985"/>
            <a:ext cx="6035040" cy="274320"/>
          </a:xfrm>
          <a:prstGeom prst="rect">
            <a:avLst/>
          </a:prstGeom>
          <a:noFill/>
          <a:ln/>
        </p:spPr>
        <p:txBody>
          <a:bodyPr wrap="square" lIns="0" tIns="0" rIns="0" bIns="0" rtlCol="0" anchor="t"/>
          <a:lstStyle/>
          <a:p>
            <a:pPr indent="0" marL="0">
              <a:buNone/>
            </a:pPr>
            <a:r>
              <a:rPr lang="en-US" sz="1100" dirty="0">
                <a:solidFill>
                  <a:schemeClr val="accent4"/>
                </a:solidFill>
              </a:rPr>
              <a:t>Supplier A’s quotation (fictional demo data, printed and photographed for the demo)</a:t>
            </a:r>
            <a:endParaRPr lang="en-US" sz="1100" dirty="0"/>
          </a:p>
        </p:txBody>
      </p:sp>
      <p:sp>
        <p:nvSpPr>
          <p:cNvPr id="7" name="text-24"/>
          <p:cNvSpPr txBox="1"/>
          <p:nvPr/>
        </p:nvSpPr>
        <p:spPr>
          <a:xfrm>
            <a:off x="6949440" y="1600200"/>
            <a:ext cx="4693615" cy="365760"/>
          </a:xfrm>
          <a:prstGeom prst="rect">
            <a:avLst/>
          </a:prstGeom>
          <a:noFill/>
          <a:ln/>
        </p:spPr>
        <p:txBody>
          <a:bodyPr wrap="square" lIns="0" tIns="0" rIns="0" bIns="0" rtlCol="0" anchor="t"/>
          <a:lstStyle/>
          <a:p>
            <a:pPr indent="0" marL="0">
              <a:buNone/>
            </a:pPr>
            <a:r>
              <a:rPr lang="en-US" sz="2000" b="1" dirty="0">
                <a:solidFill>
                  <a:schemeClr val="tx1"/>
                </a:solidFill>
              </a:rPr>
              <a:t>Hamza Garments, Faisalabad</a:t>
            </a:r>
            <a:endParaRPr lang="en-US" sz="2000" dirty="0"/>
          </a:p>
        </p:txBody>
      </p:sp>
      <p:sp>
        <p:nvSpPr>
          <p:cNvPr id="8" name="text-25"/>
          <p:cNvSpPr txBox="1"/>
          <p:nvPr/>
        </p:nvSpPr>
        <p:spPr>
          <a:xfrm>
            <a:off x="6949440" y="2011680"/>
            <a:ext cx="4693615" cy="731520"/>
          </a:xfrm>
          <a:prstGeom prst="rect">
            <a:avLst/>
          </a:prstGeom>
          <a:noFill/>
          <a:ln/>
        </p:spPr>
        <p:txBody>
          <a:bodyPr wrap="square" lIns="0" tIns="0" rIns="0" bIns="0" rtlCol="0" anchor="t"/>
          <a:lstStyle/>
          <a:p>
            <a:pPr indent="0" marL="0">
              <a:buNone/>
            </a:pPr>
            <a:r>
              <a:rPr lang="en-US" sz="1600" dirty="0">
                <a:solidFill>
                  <a:schemeClr val="tx1"/>
                </a:solidFill>
              </a:rPr>
              <a:t>Exporter · Rs 1 crore cash · Rs 35 lakh a month in costs · no finance team. Needs 80 new machines.</a:t>
            </a:r>
            <a:endParaRPr lang="en-US" sz="1600" dirty="0"/>
          </a:p>
        </p:txBody>
      </p:sp>
      <p:sp>
        <p:nvSpPr>
          <p:cNvPr id="9" name="box-26"/>
          <p:cNvSpPr/>
          <p:nvPr/>
        </p:nvSpPr>
        <p:spPr>
          <a:xfrm>
            <a:off x="6949440" y="2880360"/>
            <a:ext cx="4693615" cy="1097280"/>
          </a:xfrm>
          <a:prstGeom prst="rect">
            <a:avLst/>
          </a:prstGeom>
          <a:solidFill>
            <a:schemeClr val="bg1"/>
          </a:solidFill>
          <a:ln w="9525">
            <a:solidFill>
              <a:schemeClr val="accent5"/>
            </a:solidFill>
            <a:prstDash val="solid"/>
          </a:ln>
        </p:spPr>
      </p:sp>
      <p:sp>
        <p:nvSpPr>
          <p:cNvPr id="10" name="text-27"/>
          <p:cNvSpPr txBox="1"/>
          <p:nvPr/>
        </p:nvSpPr>
        <p:spPr>
          <a:xfrm>
            <a:off x="7178040" y="2990088"/>
            <a:ext cx="4236415" cy="502920"/>
          </a:xfrm>
          <a:prstGeom prst="rect">
            <a:avLst/>
          </a:prstGeom>
          <a:noFill/>
          <a:ln/>
        </p:spPr>
        <p:txBody>
          <a:bodyPr wrap="square" lIns="0" tIns="0" rIns="0" bIns="0" rtlCol="0" anchor="t"/>
          <a:lstStyle/>
          <a:p>
            <a:pPr indent="0" marL="0">
              <a:buNone/>
            </a:pPr>
            <a:r>
              <a:rPr lang="en-US" sz="3200" b="1" dirty="0">
                <a:solidFill>
                  <a:schemeClr val="accent2"/>
                </a:solidFill>
                <a:latin typeface="Consolas" pitchFamily="34" charset="0"/>
                <a:ea typeface="Consolas" pitchFamily="34" charset="-122"/>
                <a:cs typeface="Consolas" pitchFamily="34" charset="-120"/>
              </a:rPr>
              <a:t>Rs 4,80,000</a:t>
            </a:r>
            <a:endParaRPr lang="en-US" sz="3200" dirty="0"/>
          </a:p>
        </p:txBody>
      </p:sp>
      <p:sp>
        <p:nvSpPr>
          <p:cNvPr id="11" name="text-28"/>
          <p:cNvSpPr txBox="1"/>
          <p:nvPr/>
        </p:nvSpPr>
        <p:spPr>
          <a:xfrm>
            <a:off x="7178040" y="3520440"/>
            <a:ext cx="4236415" cy="320040"/>
          </a:xfrm>
          <a:prstGeom prst="rect">
            <a:avLst/>
          </a:prstGeom>
          <a:noFill/>
          <a:ln/>
        </p:spPr>
        <p:txBody>
          <a:bodyPr wrap="square" lIns="0" tIns="0" rIns="0" bIns="0" rtlCol="0" anchor="t"/>
          <a:lstStyle/>
          <a:p>
            <a:pPr indent="0" marL="0">
              <a:buNone/>
            </a:pPr>
            <a:r>
              <a:rPr lang="en-US" sz="1400" dirty="0">
                <a:solidFill>
                  <a:schemeClr val="tx1"/>
                </a:solidFill>
              </a:rPr>
              <a:t>more than the cash price of Rs 55,20,000</a:t>
            </a:r>
            <a:endParaRPr lang="en-US" sz="1400" dirty="0"/>
          </a:p>
        </p:txBody>
      </p:sp>
      <p:sp>
        <p:nvSpPr>
          <p:cNvPr id="12" name="text-29"/>
          <p:cNvSpPr txBox="1"/>
          <p:nvPr/>
        </p:nvSpPr>
        <p:spPr>
          <a:xfrm>
            <a:off x="6949440" y="4206240"/>
            <a:ext cx="4693615" cy="256032"/>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FOUR MISTAKES SMEs KEEP MAKING</a:t>
            </a:r>
            <a:endParaRPr lang="en-US" sz="1100" dirty="0"/>
          </a:p>
        </p:txBody>
      </p:sp>
      <p:sp>
        <p:nvSpPr>
          <p:cNvPr id="13" name="box-30"/>
          <p:cNvSpPr/>
          <p:nvPr/>
        </p:nvSpPr>
        <p:spPr>
          <a:xfrm>
            <a:off x="6949440" y="4526280"/>
            <a:ext cx="2255368" cy="731520"/>
          </a:xfrm>
          <a:prstGeom prst="rect">
            <a:avLst/>
          </a:prstGeom>
          <a:solidFill>
            <a:schemeClr val="accent6"/>
          </a:solidFill>
          <a:ln/>
        </p:spPr>
      </p:sp>
      <p:sp>
        <p:nvSpPr>
          <p:cNvPr id="14" name="text-31"/>
          <p:cNvSpPr txBox="1"/>
          <p:nvPr/>
        </p:nvSpPr>
        <p:spPr>
          <a:xfrm>
            <a:off x="7086600" y="4526280"/>
            <a:ext cx="1981048" cy="73152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1  </a:t>
            </a:r>
            <a:pPr indent="0" marL="0">
              <a:buNone/>
            </a:pPr>
            <a:r>
              <a:rPr lang="en-US" sz="1400" dirty="0">
                <a:solidFill>
                  <a:schemeClr val="tx1"/>
                </a:solidFill>
              </a:rPr>
              <a:t>Not seeing the cost of paying later</a:t>
            </a:r>
            <a:endParaRPr lang="en-US" sz="1400" dirty="0"/>
          </a:p>
        </p:txBody>
      </p:sp>
      <p:sp>
        <p:nvSpPr>
          <p:cNvPr id="15" name="box-32"/>
          <p:cNvSpPr/>
          <p:nvPr/>
        </p:nvSpPr>
        <p:spPr>
          <a:xfrm>
            <a:off x="9387688" y="4526280"/>
            <a:ext cx="2255368" cy="731520"/>
          </a:xfrm>
          <a:prstGeom prst="rect">
            <a:avLst/>
          </a:prstGeom>
          <a:solidFill>
            <a:schemeClr val="accent6"/>
          </a:solidFill>
          <a:ln/>
        </p:spPr>
      </p:sp>
      <p:sp>
        <p:nvSpPr>
          <p:cNvPr id="16" name="text-33"/>
          <p:cNvSpPr txBox="1"/>
          <p:nvPr/>
        </p:nvSpPr>
        <p:spPr>
          <a:xfrm>
            <a:off x="9524848" y="4526280"/>
            <a:ext cx="1981048" cy="73152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2  </a:t>
            </a:r>
            <a:pPr indent="0" marL="0">
              <a:buNone/>
            </a:pPr>
            <a:r>
              <a:rPr lang="en-US" sz="1400" dirty="0">
                <a:solidFill>
                  <a:schemeClr val="tx1"/>
                </a:solidFill>
              </a:rPr>
              <a:t>Missing cheap Islamic financing</a:t>
            </a:r>
            <a:endParaRPr lang="en-US" sz="1400" dirty="0"/>
          </a:p>
        </p:txBody>
      </p:sp>
      <p:sp>
        <p:nvSpPr>
          <p:cNvPr id="17" name="box-34"/>
          <p:cNvSpPr/>
          <p:nvPr/>
        </p:nvSpPr>
        <p:spPr>
          <a:xfrm>
            <a:off x="6949440" y="5394960"/>
            <a:ext cx="2255368" cy="731520"/>
          </a:xfrm>
          <a:prstGeom prst="rect">
            <a:avLst/>
          </a:prstGeom>
          <a:solidFill>
            <a:schemeClr val="accent6"/>
          </a:solidFill>
          <a:ln/>
        </p:spPr>
      </p:sp>
      <p:sp>
        <p:nvSpPr>
          <p:cNvPr id="18" name="text-35"/>
          <p:cNvSpPr txBox="1"/>
          <p:nvPr/>
        </p:nvSpPr>
        <p:spPr>
          <a:xfrm>
            <a:off x="7086600" y="5394960"/>
            <a:ext cx="1981048" cy="73152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3  </a:t>
            </a:r>
            <a:pPr indent="0" marL="0">
              <a:buNone/>
            </a:pPr>
            <a:r>
              <a:rPr lang="en-US" sz="1400" dirty="0">
                <a:solidFill>
                  <a:schemeClr val="tx1"/>
                </a:solidFill>
              </a:rPr>
              <a:t>Ignoring tax</a:t>
            </a:r>
            <a:endParaRPr lang="en-US" sz="1400" dirty="0"/>
          </a:p>
        </p:txBody>
      </p:sp>
      <p:sp>
        <p:nvSpPr>
          <p:cNvPr id="19" name="box-36"/>
          <p:cNvSpPr/>
          <p:nvPr/>
        </p:nvSpPr>
        <p:spPr>
          <a:xfrm>
            <a:off x="9387688" y="5394960"/>
            <a:ext cx="2255368" cy="731520"/>
          </a:xfrm>
          <a:prstGeom prst="rect">
            <a:avLst/>
          </a:prstGeom>
          <a:solidFill>
            <a:schemeClr val="accent6"/>
          </a:solidFill>
          <a:ln/>
        </p:spPr>
      </p:sp>
      <p:sp>
        <p:nvSpPr>
          <p:cNvPr id="20" name="text-37"/>
          <p:cNvSpPr txBox="1"/>
          <p:nvPr/>
        </p:nvSpPr>
        <p:spPr>
          <a:xfrm>
            <a:off x="9524848" y="5394960"/>
            <a:ext cx="1981048" cy="73152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4  </a:t>
            </a:r>
            <a:pPr indent="0" marL="0">
              <a:buNone/>
            </a:pPr>
            <a:r>
              <a:rPr lang="en-US" sz="1400" dirty="0">
                <a:solidFill>
                  <a:schemeClr val="tx1"/>
                </a:solidFill>
              </a:rPr>
              <a:t>Paying cash, then no cash for salaries</a:t>
            </a:r>
            <a:endParaRPr lang="en-US" sz="14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38"/>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PROBLEM</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b="1" spc="100" kern="0" dirty="0">
                <a:solidFill>
                  <a:schemeClr val="accent1"/>
                </a:solidFill>
                <a:latin typeface="Consolas" pitchFamily="34" charset="0"/>
                <a:ea typeface="Consolas" pitchFamily="34" charset="-122"/>
                <a:cs typeface="Consolas" pitchFamily="34" charset="-120"/>
              </a:rPr>
              <a:t>DATA / INPUT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b="1" spc="100" kern="0" dirty="0">
                <a:solidFill>
                  <a:schemeClr val="accent1"/>
                </a:solidFill>
                <a:latin typeface="Consolas" pitchFamily="34" charset="0"/>
                <a:ea typeface="Consolas" pitchFamily="34" charset="-122"/>
                <a:cs typeface="Consolas" pitchFamily="34" charset="-120"/>
              </a:rPr>
              <a:t>AI COMPONENT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SOLUTION</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IMPACT</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AI reads. Code calculates. Owner confirms.</a:t>
            </a:r>
            <a:endParaRPr lang="en-US" sz="3600" dirty="0"/>
          </a:p>
        </p:txBody>
      </p:sp>
      <p:sp>
        <p:nvSpPr>
          <p:cNvPr id="4" name="text-39"/>
          <p:cNvSpPr txBox="1"/>
          <p:nvPr/>
        </p:nvSpPr>
        <p:spPr>
          <a:xfrm>
            <a:off x="548640" y="1627632"/>
            <a:ext cx="914400" cy="384048"/>
          </a:xfrm>
          <a:prstGeom prst="rect">
            <a:avLst/>
          </a:prstGeom>
          <a:noFill/>
          <a:ln/>
        </p:spPr>
        <p:txBody>
          <a:bodyPr wrap="square" lIns="0" tIns="0" rIns="0" bIns="0" rtlCol="0" anchor="ctr"/>
          <a:lstStyle/>
          <a:p>
            <a:pPr indent="0" marL="0">
              <a:buNone/>
            </a:pPr>
            <a:r>
              <a:rPr lang="en-US" sz="1100" b="1" spc="100" kern="0" dirty="0">
                <a:solidFill>
                  <a:schemeClr val="accent4"/>
                </a:solidFill>
                <a:latin typeface="Consolas" pitchFamily="34" charset="0"/>
                <a:ea typeface="Consolas" pitchFamily="34" charset="-122"/>
                <a:cs typeface="Consolas" pitchFamily="34" charset="-120"/>
              </a:rPr>
              <a:t>INPUTS</a:t>
            </a:r>
            <a:endParaRPr lang="en-US" sz="1100" dirty="0"/>
          </a:p>
        </p:txBody>
      </p:sp>
      <p:sp>
        <p:nvSpPr>
          <p:cNvPr id="5" name="box-40"/>
          <p:cNvSpPr/>
          <p:nvPr/>
        </p:nvSpPr>
        <p:spPr>
          <a:xfrm>
            <a:off x="1463040" y="1627632"/>
            <a:ext cx="1948221" cy="384048"/>
          </a:xfrm>
          <a:prstGeom prst="rect">
            <a:avLst/>
          </a:prstGeom>
          <a:solidFill>
            <a:srgbClr val="FFFFFF">
              <a:alpha val="0"/>
            </a:srgbClr>
          </a:solidFill>
          <a:ln w="9525">
            <a:solidFill>
              <a:schemeClr val="tx1"/>
            </a:solidFill>
            <a:prstDash val="solid"/>
          </a:ln>
        </p:spPr>
      </p:sp>
      <p:sp>
        <p:nvSpPr>
          <p:cNvPr id="6" name="text-41"/>
          <p:cNvSpPr txBox="1"/>
          <p:nvPr/>
        </p:nvSpPr>
        <p:spPr>
          <a:xfrm>
            <a:off x="1463040" y="1627632"/>
            <a:ext cx="1948221" cy="384048"/>
          </a:xfrm>
          <a:prstGeom prst="rect">
            <a:avLst/>
          </a:prstGeom>
          <a:noFill/>
          <a:ln/>
        </p:spPr>
        <p:txBody>
          <a:bodyPr wrap="square" lIns="0" tIns="0" rIns="0" bIns="0" rtlCol="0" anchor="ctr"/>
          <a:lstStyle/>
          <a:p>
            <a:pPr algn="ctr" indent="0" marL="0">
              <a:buNone/>
            </a:pPr>
            <a:r>
              <a:rPr lang="en-US" sz="1200" dirty="0">
                <a:solidFill>
                  <a:schemeClr val="tx1"/>
                </a:solidFill>
              </a:rPr>
              <a:t>Quotation photo / PDF</a:t>
            </a:r>
            <a:endParaRPr lang="en-US" sz="1200" dirty="0"/>
          </a:p>
        </p:txBody>
      </p:sp>
      <p:sp>
        <p:nvSpPr>
          <p:cNvPr id="7" name="box-42"/>
          <p:cNvSpPr/>
          <p:nvPr/>
        </p:nvSpPr>
        <p:spPr>
          <a:xfrm>
            <a:off x="3520989" y="1627632"/>
            <a:ext cx="1948221" cy="384048"/>
          </a:xfrm>
          <a:prstGeom prst="rect">
            <a:avLst/>
          </a:prstGeom>
          <a:solidFill>
            <a:srgbClr val="FFFFFF">
              <a:alpha val="0"/>
            </a:srgbClr>
          </a:solidFill>
          <a:ln w="9525">
            <a:solidFill>
              <a:schemeClr val="tx1"/>
            </a:solidFill>
            <a:prstDash val="solid"/>
          </a:ln>
        </p:spPr>
      </p:sp>
      <p:sp>
        <p:nvSpPr>
          <p:cNvPr id="8" name="text-43"/>
          <p:cNvSpPr txBox="1"/>
          <p:nvPr/>
        </p:nvSpPr>
        <p:spPr>
          <a:xfrm>
            <a:off x="3520989" y="1627632"/>
            <a:ext cx="1948221" cy="384048"/>
          </a:xfrm>
          <a:prstGeom prst="rect">
            <a:avLst/>
          </a:prstGeom>
          <a:noFill/>
          <a:ln/>
        </p:spPr>
        <p:txBody>
          <a:bodyPr wrap="square" lIns="0" tIns="0" rIns="0" bIns="0" rtlCol="0" anchor="ctr"/>
          <a:lstStyle/>
          <a:p>
            <a:pPr algn="ctr" indent="0" marL="0">
              <a:buNone/>
            </a:pPr>
            <a:r>
              <a:rPr lang="en-US" sz="1200" dirty="0">
                <a:solidFill>
                  <a:schemeClr val="tx1"/>
                </a:solidFill>
              </a:rPr>
              <a:t>Roman Urdu replies</a:t>
            </a:r>
            <a:endParaRPr lang="en-US" sz="1200" dirty="0"/>
          </a:p>
        </p:txBody>
      </p:sp>
      <p:sp>
        <p:nvSpPr>
          <p:cNvPr id="9" name="box-44"/>
          <p:cNvSpPr/>
          <p:nvPr/>
        </p:nvSpPr>
        <p:spPr>
          <a:xfrm>
            <a:off x="5578937" y="1627632"/>
            <a:ext cx="1948221" cy="384048"/>
          </a:xfrm>
          <a:prstGeom prst="rect">
            <a:avLst/>
          </a:prstGeom>
          <a:solidFill>
            <a:srgbClr val="FFFFFF">
              <a:alpha val="0"/>
            </a:srgbClr>
          </a:solidFill>
          <a:ln w="9525">
            <a:solidFill>
              <a:schemeClr val="tx1"/>
            </a:solidFill>
            <a:prstDash val="solid"/>
          </a:ln>
        </p:spPr>
      </p:sp>
      <p:sp>
        <p:nvSpPr>
          <p:cNvPr id="10" name="text-45"/>
          <p:cNvSpPr txBox="1"/>
          <p:nvPr/>
        </p:nvSpPr>
        <p:spPr>
          <a:xfrm>
            <a:off x="5578937" y="1627632"/>
            <a:ext cx="1948221" cy="384048"/>
          </a:xfrm>
          <a:prstGeom prst="rect">
            <a:avLst/>
          </a:prstGeom>
          <a:noFill/>
          <a:ln/>
        </p:spPr>
        <p:txBody>
          <a:bodyPr wrap="square" lIns="0" tIns="0" rIns="0" bIns="0" rtlCol="0" anchor="ctr"/>
          <a:lstStyle/>
          <a:p>
            <a:pPr algn="ctr" indent="0" marL="0">
              <a:buNone/>
            </a:pPr>
            <a:r>
              <a:rPr lang="en-US" sz="1200" dirty="0">
                <a:solidFill>
                  <a:schemeClr val="tx1"/>
                </a:solidFill>
              </a:rPr>
              <a:t>Web prices &amp; reviews</a:t>
            </a:r>
            <a:endParaRPr lang="en-US" sz="1200" dirty="0"/>
          </a:p>
        </p:txBody>
      </p:sp>
      <p:sp>
        <p:nvSpPr>
          <p:cNvPr id="11" name="box-46"/>
          <p:cNvSpPr/>
          <p:nvPr/>
        </p:nvSpPr>
        <p:spPr>
          <a:xfrm>
            <a:off x="7636886" y="1627632"/>
            <a:ext cx="1948221" cy="384048"/>
          </a:xfrm>
          <a:prstGeom prst="rect">
            <a:avLst/>
          </a:prstGeom>
          <a:solidFill>
            <a:srgbClr val="FFFFFF">
              <a:alpha val="0"/>
            </a:srgbClr>
          </a:solidFill>
          <a:ln w="9525">
            <a:solidFill>
              <a:schemeClr val="tx1"/>
            </a:solidFill>
            <a:prstDash val="solid"/>
          </a:ln>
        </p:spPr>
      </p:sp>
      <p:sp>
        <p:nvSpPr>
          <p:cNvPr id="12" name="text-47"/>
          <p:cNvSpPr txBox="1"/>
          <p:nvPr/>
        </p:nvSpPr>
        <p:spPr>
          <a:xfrm>
            <a:off x="7636886" y="1627632"/>
            <a:ext cx="1948221" cy="384048"/>
          </a:xfrm>
          <a:prstGeom prst="rect">
            <a:avLst/>
          </a:prstGeom>
          <a:noFill/>
          <a:ln/>
        </p:spPr>
        <p:txBody>
          <a:bodyPr wrap="square" lIns="0" tIns="0" rIns="0" bIns="0" rtlCol="0" anchor="ctr"/>
          <a:lstStyle/>
          <a:p>
            <a:pPr algn="ctr" indent="0" marL="0">
              <a:buNone/>
            </a:pPr>
            <a:r>
              <a:rPr lang="en-US" sz="1200" dirty="0">
                <a:solidFill>
                  <a:schemeClr val="tx1"/>
                </a:solidFill>
              </a:rPr>
              <a:t>Company cash &amp; costs</a:t>
            </a:r>
            <a:endParaRPr lang="en-US" sz="1200" dirty="0"/>
          </a:p>
        </p:txBody>
      </p:sp>
      <p:sp>
        <p:nvSpPr>
          <p:cNvPr id="13" name="box-48"/>
          <p:cNvSpPr/>
          <p:nvPr/>
        </p:nvSpPr>
        <p:spPr>
          <a:xfrm>
            <a:off x="9694835" y="1627632"/>
            <a:ext cx="1948221" cy="384048"/>
          </a:xfrm>
          <a:prstGeom prst="rect">
            <a:avLst/>
          </a:prstGeom>
          <a:solidFill>
            <a:srgbClr val="FFFFFF">
              <a:alpha val="0"/>
            </a:srgbClr>
          </a:solidFill>
          <a:ln w="9525">
            <a:solidFill>
              <a:schemeClr val="tx1"/>
            </a:solidFill>
            <a:prstDash val="solid"/>
          </a:ln>
        </p:spPr>
      </p:sp>
      <p:sp>
        <p:nvSpPr>
          <p:cNvPr id="14" name="text-49"/>
          <p:cNvSpPr txBox="1"/>
          <p:nvPr/>
        </p:nvSpPr>
        <p:spPr>
          <a:xfrm>
            <a:off x="9694835" y="1627632"/>
            <a:ext cx="1948221" cy="384048"/>
          </a:xfrm>
          <a:prstGeom prst="rect">
            <a:avLst/>
          </a:prstGeom>
          <a:noFill/>
          <a:ln/>
        </p:spPr>
        <p:txBody>
          <a:bodyPr wrap="square" lIns="0" tIns="0" rIns="0" bIns="0" rtlCol="0" anchor="ctr"/>
          <a:lstStyle/>
          <a:p>
            <a:pPr algn="ctr" indent="0" marL="0">
              <a:buNone/>
            </a:pPr>
            <a:r>
              <a:rPr lang="en-US" sz="1200" dirty="0">
                <a:solidFill>
                  <a:schemeClr val="tx1"/>
                </a:solidFill>
              </a:rPr>
              <a:t>SBP rate &amp; KIBOR</a:t>
            </a:r>
            <a:endParaRPr lang="en-US" sz="1200" dirty="0"/>
          </a:p>
        </p:txBody>
      </p:sp>
      <p:sp>
        <p:nvSpPr>
          <p:cNvPr id="15" name="box-50"/>
          <p:cNvSpPr/>
          <p:nvPr/>
        </p:nvSpPr>
        <p:spPr>
          <a:xfrm>
            <a:off x="548640" y="2286000"/>
            <a:ext cx="3423818" cy="3017520"/>
          </a:xfrm>
          <a:prstGeom prst="rect">
            <a:avLst/>
          </a:prstGeom>
          <a:solidFill>
            <a:schemeClr val="bg1"/>
          </a:solidFill>
          <a:ln w="9525">
            <a:solidFill>
              <a:schemeClr val="accent5"/>
            </a:solidFill>
            <a:prstDash val="solid"/>
          </a:ln>
        </p:spPr>
      </p:sp>
      <p:sp>
        <p:nvSpPr>
          <p:cNvPr id="16" name="box-51"/>
          <p:cNvSpPr/>
          <p:nvPr/>
        </p:nvSpPr>
        <p:spPr>
          <a:xfrm>
            <a:off x="548640" y="2286000"/>
            <a:ext cx="3423818" cy="566928"/>
          </a:xfrm>
          <a:prstGeom prst="rect">
            <a:avLst/>
          </a:prstGeom>
          <a:solidFill>
            <a:schemeClr val="accent1"/>
          </a:solidFill>
          <a:ln/>
        </p:spPr>
      </p:sp>
      <p:sp>
        <p:nvSpPr>
          <p:cNvPr id="17" name="text-52"/>
          <p:cNvSpPr txBox="1"/>
          <p:nvPr/>
        </p:nvSpPr>
        <p:spPr>
          <a:xfrm>
            <a:off x="731520" y="2286000"/>
            <a:ext cx="3058058" cy="566928"/>
          </a:xfrm>
          <a:prstGeom prst="rect">
            <a:avLst/>
          </a:prstGeom>
          <a:noFill/>
          <a:ln/>
        </p:spPr>
        <p:txBody>
          <a:bodyPr wrap="square" lIns="0" tIns="0" rIns="0" bIns="0" rtlCol="0" anchor="ctr"/>
          <a:lstStyle/>
          <a:p>
            <a:pPr indent="0" marL="0">
              <a:buNone/>
            </a:pPr>
            <a:r>
              <a:rPr lang="en-US" sz="2000" b="1" dirty="0">
                <a:solidFill>
                  <a:schemeClr val="bg1"/>
                </a:solidFill>
              </a:rPr>
              <a:t>AI reads &amp; writes</a:t>
            </a:r>
            <a:endParaRPr lang="en-US" sz="2000" dirty="0"/>
          </a:p>
        </p:txBody>
      </p:sp>
      <p:sp>
        <p:nvSpPr>
          <p:cNvPr id="18" name="text-53"/>
          <p:cNvSpPr txBox="1"/>
          <p:nvPr/>
        </p:nvSpPr>
        <p:spPr>
          <a:xfrm>
            <a:off x="731520" y="2971800"/>
            <a:ext cx="3058058" cy="22860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OpenAI</a:t>
            </a:r>
            <a:endParaRPr lang="en-US" sz="1100" dirty="0"/>
          </a:p>
        </p:txBody>
      </p:sp>
      <p:sp>
        <p:nvSpPr>
          <p:cNvPr id="19" name="text-54"/>
          <p:cNvSpPr txBox="1"/>
          <p:nvPr/>
        </p:nvSpPr>
        <p:spPr>
          <a:xfrm>
            <a:off x="731520" y="3273552"/>
            <a:ext cx="3103778" cy="19202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Reads the quotation photo into fields</a:t>
            </a:r>
            <a:endParaRPr lang="en-US" sz="1500" dirty="0"/>
          </a:p>
          <a:p>
            <a:pPr marL="177800" indent="-177800">
              <a:spcAft>
                <a:spcPts val="700"/>
              </a:spcAft>
              <a:buSzPct val="100000"/>
              <a:buChar char="•"/>
            </a:pPr>
            <a:r>
              <a:rPr lang="en-US" sz="1500" dirty="0">
                <a:solidFill>
                  <a:schemeClr val="tx1"/>
                </a:solidFill>
              </a:rPr>
              <a:t>Reads replies like “67 hazar per unit”</a:t>
            </a:r>
            <a:endParaRPr lang="en-US" sz="1500" dirty="0"/>
          </a:p>
          <a:p>
            <a:pPr marL="177800" indent="-177800">
              <a:spcAft>
                <a:spcPts val="700"/>
              </a:spcAft>
              <a:buSzPct val="100000"/>
              <a:buChar char="•"/>
            </a:pPr>
            <a:r>
              <a:rPr lang="en-US" sz="1500" dirty="0">
                <a:solidFill>
                  <a:schemeClr val="tx1"/>
                </a:solidFill>
              </a:rPr>
              <a:t>Cleans web listings, reads reviews</a:t>
            </a:r>
            <a:endParaRPr lang="en-US" sz="1500" dirty="0"/>
          </a:p>
          <a:p>
            <a:pPr marL="177800" indent="-177800">
              <a:spcAft>
                <a:spcPts val="700"/>
              </a:spcAft>
              <a:buSzPct val="100000"/>
              <a:buChar char="•"/>
            </a:pPr>
            <a:r>
              <a:rPr lang="en-US" sz="1500" dirty="0">
                <a:solidFill>
                  <a:schemeClr val="tx1"/>
                </a:solidFill>
              </a:rPr>
              <a:t>Writes RFQ emails and the memo</a:t>
            </a:r>
            <a:endParaRPr lang="en-US" sz="1500" dirty="0"/>
          </a:p>
        </p:txBody>
      </p:sp>
      <p:sp>
        <p:nvSpPr>
          <p:cNvPr id="20" name="text-55"/>
          <p:cNvSpPr txBox="1"/>
          <p:nvPr/>
        </p:nvSpPr>
        <p:spPr>
          <a:xfrm>
            <a:off x="3972458" y="3474720"/>
            <a:ext cx="41148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21" name="box-56"/>
          <p:cNvSpPr/>
          <p:nvPr/>
        </p:nvSpPr>
        <p:spPr>
          <a:xfrm>
            <a:off x="4383938" y="2286000"/>
            <a:ext cx="3423818" cy="3017520"/>
          </a:xfrm>
          <a:prstGeom prst="rect">
            <a:avLst/>
          </a:prstGeom>
          <a:solidFill>
            <a:schemeClr val="bg1"/>
          </a:solidFill>
          <a:ln w="9525">
            <a:solidFill>
              <a:schemeClr val="accent5"/>
            </a:solidFill>
            <a:prstDash val="solid"/>
          </a:ln>
        </p:spPr>
      </p:sp>
      <p:sp>
        <p:nvSpPr>
          <p:cNvPr id="22" name="box-57"/>
          <p:cNvSpPr/>
          <p:nvPr/>
        </p:nvSpPr>
        <p:spPr>
          <a:xfrm>
            <a:off x="4383938" y="2286000"/>
            <a:ext cx="3423818" cy="566928"/>
          </a:xfrm>
          <a:prstGeom prst="rect">
            <a:avLst/>
          </a:prstGeom>
          <a:solidFill>
            <a:schemeClr val="tx1"/>
          </a:solidFill>
          <a:ln/>
        </p:spPr>
      </p:sp>
      <p:sp>
        <p:nvSpPr>
          <p:cNvPr id="23" name="text-58"/>
          <p:cNvSpPr txBox="1"/>
          <p:nvPr/>
        </p:nvSpPr>
        <p:spPr>
          <a:xfrm>
            <a:off x="4566818" y="2286000"/>
            <a:ext cx="3058058" cy="566928"/>
          </a:xfrm>
          <a:prstGeom prst="rect">
            <a:avLst/>
          </a:prstGeom>
          <a:noFill/>
          <a:ln/>
        </p:spPr>
        <p:txBody>
          <a:bodyPr wrap="square" lIns="0" tIns="0" rIns="0" bIns="0" rtlCol="0" anchor="ctr"/>
          <a:lstStyle/>
          <a:p>
            <a:pPr indent="0" marL="0">
              <a:buNone/>
            </a:pPr>
            <a:r>
              <a:rPr lang="en-US" sz="2000" b="1" dirty="0">
                <a:solidFill>
                  <a:schemeClr val="bg1"/>
                </a:solidFill>
              </a:rPr>
              <a:t>Code calculates</a:t>
            </a:r>
            <a:endParaRPr lang="en-US" sz="2000" dirty="0"/>
          </a:p>
        </p:txBody>
      </p:sp>
      <p:sp>
        <p:nvSpPr>
          <p:cNvPr id="24" name="text-59"/>
          <p:cNvSpPr txBox="1"/>
          <p:nvPr/>
        </p:nvSpPr>
        <p:spPr>
          <a:xfrm>
            <a:off x="4566818" y="2971800"/>
            <a:ext cx="3058058" cy="22860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finance.ts · no AI</a:t>
            </a:r>
            <a:endParaRPr lang="en-US" sz="1100" dirty="0"/>
          </a:p>
        </p:txBody>
      </p:sp>
      <p:sp>
        <p:nvSpPr>
          <p:cNvPr id="25" name="text-60"/>
          <p:cNvSpPr txBox="1"/>
          <p:nvPr/>
        </p:nvSpPr>
        <p:spPr>
          <a:xfrm>
            <a:off x="4566818" y="3273552"/>
            <a:ext cx="3103778" cy="19202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Every rupee: cost of paying later, profit, rentals, PV, tax, runway</a:t>
            </a:r>
            <a:endParaRPr lang="en-US" sz="1500" dirty="0"/>
          </a:p>
          <a:p>
            <a:pPr marL="177800" indent="-177800">
              <a:spcAft>
                <a:spcPts val="700"/>
              </a:spcAft>
              <a:buSzPct val="100000"/>
              <a:buChar char="•"/>
            </a:pPr>
            <a:r>
              <a:rPr lang="en-US" sz="1500" dirty="0">
                <a:solidFill>
                  <a:schemeClr val="tx1"/>
                </a:solidFill>
              </a:rPr>
              <a:t>Fraud rules: IBAN checksum, account change, sender domain</a:t>
            </a:r>
            <a:endParaRPr lang="en-US" sz="1500" dirty="0"/>
          </a:p>
          <a:p>
            <a:pPr marL="177800" indent="-177800">
              <a:spcAft>
                <a:spcPts val="700"/>
              </a:spcAft>
              <a:buSzPct val="100000"/>
              <a:buChar char="•"/>
            </a:pPr>
            <a:r>
              <a:rPr lang="en-US" sz="1500" dirty="0">
                <a:solidFill>
                  <a:schemeClr val="tx1"/>
                </a:solidFill>
              </a:rPr>
              <a:t>145 automated tests</a:t>
            </a:r>
            <a:endParaRPr lang="en-US" sz="1500" dirty="0"/>
          </a:p>
        </p:txBody>
      </p:sp>
      <p:sp>
        <p:nvSpPr>
          <p:cNvPr id="26" name="text-61"/>
          <p:cNvSpPr txBox="1"/>
          <p:nvPr/>
        </p:nvSpPr>
        <p:spPr>
          <a:xfrm>
            <a:off x="7807757" y="3474720"/>
            <a:ext cx="41148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27" name="box-62"/>
          <p:cNvSpPr/>
          <p:nvPr/>
        </p:nvSpPr>
        <p:spPr>
          <a:xfrm>
            <a:off x="8219237" y="2286000"/>
            <a:ext cx="3423818" cy="3017520"/>
          </a:xfrm>
          <a:prstGeom prst="rect">
            <a:avLst/>
          </a:prstGeom>
          <a:solidFill>
            <a:schemeClr val="bg1"/>
          </a:solidFill>
          <a:ln w="9525">
            <a:solidFill>
              <a:schemeClr val="accent5"/>
            </a:solidFill>
            <a:prstDash val="solid"/>
          </a:ln>
        </p:spPr>
      </p:sp>
      <p:sp>
        <p:nvSpPr>
          <p:cNvPr id="28" name="box-63"/>
          <p:cNvSpPr/>
          <p:nvPr/>
        </p:nvSpPr>
        <p:spPr>
          <a:xfrm>
            <a:off x="8219237" y="2286000"/>
            <a:ext cx="3423818" cy="566928"/>
          </a:xfrm>
          <a:prstGeom prst="rect">
            <a:avLst/>
          </a:prstGeom>
          <a:solidFill>
            <a:schemeClr val="accent6"/>
          </a:solidFill>
          <a:ln/>
        </p:spPr>
      </p:sp>
      <p:sp>
        <p:nvSpPr>
          <p:cNvPr id="29" name="text-64"/>
          <p:cNvSpPr txBox="1"/>
          <p:nvPr/>
        </p:nvSpPr>
        <p:spPr>
          <a:xfrm>
            <a:off x="8402117" y="2286000"/>
            <a:ext cx="3058058" cy="566928"/>
          </a:xfrm>
          <a:prstGeom prst="rect">
            <a:avLst/>
          </a:prstGeom>
          <a:noFill/>
          <a:ln/>
        </p:spPr>
        <p:txBody>
          <a:bodyPr wrap="square" lIns="0" tIns="0" rIns="0" bIns="0" rtlCol="0" anchor="ctr"/>
          <a:lstStyle/>
          <a:p>
            <a:pPr indent="0" marL="0">
              <a:buNone/>
            </a:pPr>
            <a:r>
              <a:rPr lang="en-US" sz="2000" b="1" dirty="0">
                <a:solidFill>
                  <a:schemeClr val="tx1"/>
                </a:solidFill>
              </a:rPr>
              <a:t>Owner confirms</a:t>
            </a:r>
            <a:endParaRPr lang="en-US" sz="2000" dirty="0"/>
          </a:p>
        </p:txBody>
      </p:sp>
      <p:sp>
        <p:nvSpPr>
          <p:cNvPr id="30" name="text-65"/>
          <p:cNvSpPr txBox="1"/>
          <p:nvPr/>
        </p:nvSpPr>
        <p:spPr>
          <a:xfrm>
            <a:off x="8402117" y="2971800"/>
            <a:ext cx="3058058" cy="22860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human in the loop</a:t>
            </a:r>
            <a:endParaRPr lang="en-US" sz="1100" dirty="0"/>
          </a:p>
        </p:txBody>
      </p:sp>
      <p:sp>
        <p:nvSpPr>
          <p:cNvPr id="31" name="text-66"/>
          <p:cNvSpPr txBox="1"/>
          <p:nvPr/>
        </p:nvSpPr>
        <p:spPr>
          <a:xfrm>
            <a:off x="8402117" y="3273552"/>
            <a:ext cx="3103778" cy="19202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Every extracted field</a:t>
            </a:r>
            <a:endParaRPr lang="en-US" sz="1500" dirty="0"/>
          </a:p>
          <a:p>
            <a:pPr marL="177800" indent="-177800">
              <a:spcAft>
                <a:spcPts val="700"/>
              </a:spcAft>
              <a:buSzPct val="100000"/>
              <a:buChar char="•"/>
            </a:pPr>
            <a:r>
              <a:rPr lang="en-US" sz="1500" dirty="0">
                <a:solidFill>
                  <a:schemeClr val="tx1"/>
                </a:solidFill>
              </a:rPr>
              <a:t>The final choice</a:t>
            </a:r>
            <a:endParaRPr lang="en-US" sz="1500" dirty="0"/>
          </a:p>
          <a:p>
            <a:pPr marL="177800" indent="-177800">
              <a:spcAft>
                <a:spcPts val="700"/>
              </a:spcAft>
              <a:buSzPct val="100000"/>
              <a:buChar char="•"/>
            </a:pPr>
            <a:r>
              <a:rPr lang="en-US" sz="1500" dirty="0">
                <a:solidFill>
                  <a:schemeClr val="tx1"/>
                </a:solidFill>
              </a:rPr>
              <a:t>Any new bank account, by phone</a:t>
            </a:r>
            <a:endParaRPr lang="en-US" sz="1500" dirty="0"/>
          </a:p>
        </p:txBody>
      </p:sp>
      <p:sp>
        <p:nvSpPr>
          <p:cNvPr id="32" name="text-67"/>
          <p:cNvSpPr txBox="1"/>
          <p:nvPr/>
        </p:nvSpPr>
        <p:spPr>
          <a:xfrm>
            <a:off x="548640" y="5486400"/>
            <a:ext cx="11094415" cy="7315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Guardrails  </a:t>
            </a:r>
            <a:pPr indent="0" marL="0">
              <a:spcAft>
                <a:spcPts val="400"/>
              </a:spcAft>
              <a:buNone/>
            </a:pPr>
            <a:r>
              <a:rPr lang="en-US" sz="1300" dirty="0">
                <a:solidFill>
                  <a:schemeClr val="tx1"/>
                </a:solidFill>
              </a:rPr>
              <a:t>a price is kept only if it is written in the source · every memo number checked against the calculation · fraud level always from rules</a:t>
            </a:r>
            <a:endParaRPr lang="en-US" sz="1300" dirty="0"/>
          </a:p>
          <a:p>
            <a:pPr indent="0" marL="0">
              <a:spcAft>
                <a:spcPts val="400"/>
              </a:spcAft>
              <a:buNone/>
            </a:pPr>
            <a:r>
              <a:rPr lang="en-US" sz="1300" b="1" dirty="0">
                <a:solidFill>
                  <a:schemeClr val="accent1"/>
                </a:solidFill>
              </a:rPr>
              <a:t>Models  </a:t>
            </a:r>
            <a:pPr indent="0" marL="0">
              <a:spcAft>
                <a:spcPts val="400"/>
              </a:spcAft>
              <a:buNone/>
            </a:pPr>
            <a:r>
              <a:rPr lang="en-US" sz="1300" dirty="0">
                <a:solidFill>
                  <a:schemeClr val="tx1"/>
                </a:solidFill>
              </a:rPr>
              <a:t>gpt-6-luna (vision, reading, writing) · gpt-4.1-nano (fast extraction), chosen by benchmark · ≈ $0.002 per full decision</a:t>
            </a:r>
            <a:endParaRPr lang="en-US" sz="13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68"/>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PROBLEM</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DATA / INPUT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AI COMPONENT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b="1" spc="100" kern="0" dirty="0">
                <a:solidFill>
                  <a:schemeClr val="accent1"/>
                </a:solidFill>
                <a:latin typeface="Consolas" pitchFamily="34" charset="0"/>
                <a:ea typeface="Consolas" pitchFamily="34" charset="-122"/>
                <a:cs typeface="Consolas" pitchFamily="34" charset="-120"/>
              </a:rPr>
              <a:t>SOLUTION</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IMPACT</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Every way to pay, compared by code</a:t>
            </a:r>
            <a:endParaRPr lang="en-US" sz="3600" dirty="0"/>
          </a:p>
        </p:txBody>
      </p:sp>
      <p:pic>
        <p:nvPicPr>
          <p:cNvPr id="4" name="image-69" descr="compare-table.png">    </p:cNvPr>
          <p:cNvPicPr>
            <a:picLocks noChangeAspect="1"/>
          </p:cNvPicPr>
          <p:nvPr/>
        </p:nvPicPr>
        <p:blipFill>
          <a:blip r:embed="rId1"/>
          <a:stretch>
            <a:fillRect/>
          </a:stretch>
        </p:blipFill>
        <p:spPr>
          <a:xfrm>
            <a:off x="548640" y="1572768"/>
            <a:ext cx="6583680" cy="4334111"/>
          </a:xfrm>
          <a:prstGeom prst="rect">
            <a:avLst/>
          </a:prstGeom>
        </p:spPr>
      </p:pic>
      <p:sp>
        <p:nvSpPr>
          <p:cNvPr id="5" name="frame-70"/>
          <p:cNvSpPr/>
          <p:nvPr/>
        </p:nvSpPr>
        <p:spPr>
          <a:xfrm>
            <a:off x="548640" y="1572768"/>
            <a:ext cx="6583680" cy="4334111"/>
          </a:xfrm>
          <a:prstGeom prst="rect">
            <a:avLst/>
          </a:prstGeom>
          <a:solidFill>
            <a:srgbClr val="FFFFFF">
              <a:alpha val="0"/>
            </a:srgbClr>
          </a:solidFill>
          <a:ln w="9525">
            <a:solidFill>
              <a:schemeClr val="accent5"/>
            </a:solidFill>
            <a:prstDash val="solid"/>
          </a:ln>
        </p:spPr>
      </p:sp>
      <p:sp>
        <p:nvSpPr>
          <p:cNvPr id="6" name="text-71"/>
          <p:cNvSpPr txBox="1"/>
          <p:nvPr/>
        </p:nvSpPr>
        <p:spPr>
          <a:xfrm>
            <a:off x="548640" y="5998319"/>
            <a:ext cx="6583680" cy="274320"/>
          </a:xfrm>
          <a:prstGeom prst="rect">
            <a:avLst/>
          </a:prstGeom>
          <a:noFill/>
          <a:ln/>
        </p:spPr>
        <p:txBody>
          <a:bodyPr wrap="square" lIns="0" tIns="0" rIns="0" bIns="0" rtlCol="0" anchor="t"/>
          <a:lstStyle/>
          <a:p>
            <a:pPr indent="0" marL="0">
              <a:buNone/>
            </a:pPr>
            <a:r>
              <a:rPr lang="en-US" sz="1100" dirty="0">
                <a:solidFill>
                  <a:schemeClr val="accent4"/>
                </a:solidFill>
              </a:rPr>
              <a:t>Live app, seeded demo decision: Supplier B found via a Roman Urdu reply at Rs 67,000 a machine</a:t>
            </a:r>
            <a:endParaRPr lang="en-US" sz="1100" dirty="0"/>
          </a:p>
        </p:txBody>
      </p:sp>
      <p:sp>
        <p:nvSpPr>
          <p:cNvPr id="7" name="box-72"/>
          <p:cNvSpPr/>
          <p:nvPr/>
        </p:nvSpPr>
        <p:spPr>
          <a:xfrm>
            <a:off x="7543800" y="1572768"/>
            <a:ext cx="4099255" cy="1310592"/>
          </a:xfrm>
          <a:prstGeom prst="rect">
            <a:avLst/>
          </a:prstGeom>
          <a:solidFill>
            <a:schemeClr val="bg1"/>
          </a:solidFill>
          <a:ln w="9525">
            <a:solidFill>
              <a:schemeClr val="accent5"/>
            </a:solidFill>
            <a:prstDash val="solid"/>
          </a:ln>
        </p:spPr>
      </p:sp>
      <p:sp>
        <p:nvSpPr>
          <p:cNvPr id="8" name="text-73"/>
          <p:cNvSpPr txBox="1"/>
          <p:nvPr/>
        </p:nvSpPr>
        <p:spPr>
          <a:xfrm>
            <a:off x="7744968" y="1755648"/>
            <a:ext cx="3696919" cy="548640"/>
          </a:xfrm>
          <a:prstGeom prst="rect">
            <a:avLst/>
          </a:prstGeom>
          <a:noFill/>
          <a:ln/>
        </p:spPr>
        <p:txBody>
          <a:bodyPr wrap="square" lIns="0" tIns="0" rIns="0" bIns="0" rtlCol="0" anchor="t"/>
          <a:lstStyle/>
          <a:p>
            <a:pPr indent="0" marL="0">
              <a:buNone/>
            </a:pPr>
            <a:r>
              <a:rPr lang="en-US" sz="3600" b="1" dirty="0">
                <a:solidFill>
                  <a:schemeClr val="accent2"/>
                </a:solidFill>
                <a:latin typeface="Consolas" pitchFamily="34" charset="0"/>
                <a:ea typeface="Consolas" pitchFamily="34" charset="-122"/>
                <a:cs typeface="Consolas" pitchFamily="34" charset="-120"/>
              </a:rPr>
              <a:t>16.9%</a:t>
            </a:r>
            <a:endParaRPr lang="en-US" sz="3600" dirty="0"/>
          </a:p>
        </p:txBody>
      </p:sp>
      <p:sp>
        <p:nvSpPr>
          <p:cNvPr id="9" name="text-74"/>
          <p:cNvSpPr txBox="1"/>
          <p:nvPr/>
        </p:nvSpPr>
        <p:spPr>
          <a:xfrm>
            <a:off x="7744968" y="2322576"/>
            <a:ext cx="3696919" cy="457200"/>
          </a:xfrm>
          <a:prstGeom prst="rect">
            <a:avLst/>
          </a:prstGeom>
          <a:noFill/>
          <a:ln/>
        </p:spPr>
        <p:txBody>
          <a:bodyPr wrap="square" lIns="0" tIns="0" rIns="0" bIns="0" rtlCol="0" anchor="t"/>
          <a:lstStyle/>
          <a:p>
            <a:pPr indent="0" marL="0">
              <a:buNone/>
            </a:pPr>
            <a:r>
              <a:rPr lang="en-US" sz="1500" dirty="0">
                <a:solidFill>
                  <a:schemeClr val="tx1"/>
                </a:solidFill>
              </a:rPr>
              <a:t>a year: the cost of paying later on the “0%” plan</a:t>
            </a:r>
            <a:endParaRPr lang="en-US" sz="1500" dirty="0"/>
          </a:p>
        </p:txBody>
      </p:sp>
      <p:sp>
        <p:nvSpPr>
          <p:cNvPr id="10" name="box-75"/>
          <p:cNvSpPr/>
          <p:nvPr/>
        </p:nvSpPr>
        <p:spPr>
          <a:xfrm>
            <a:off x="7543800" y="3084528"/>
            <a:ext cx="4099255" cy="1310592"/>
          </a:xfrm>
          <a:prstGeom prst="rect">
            <a:avLst/>
          </a:prstGeom>
          <a:solidFill>
            <a:schemeClr val="bg1"/>
          </a:solidFill>
          <a:ln w="9525">
            <a:solidFill>
              <a:schemeClr val="accent5"/>
            </a:solidFill>
            <a:prstDash val="solid"/>
          </a:ln>
        </p:spPr>
      </p:sp>
      <p:sp>
        <p:nvSpPr>
          <p:cNvPr id="11" name="text-76"/>
          <p:cNvSpPr txBox="1"/>
          <p:nvPr/>
        </p:nvSpPr>
        <p:spPr>
          <a:xfrm>
            <a:off x="7744968" y="3267408"/>
            <a:ext cx="3696919" cy="548640"/>
          </a:xfrm>
          <a:prstGeom prst="rect">
            <a:avLst/>
          </a:prstGeom>
          <a:noFill/>
          <a:ln/>
        </p:spPr>
        <p:txBody>
          <a:bodyPr wrap="square" lIns="0" tIns="0" rIns="0" bIns="0" rtlCol="0" anchor="t"/>
          <a:lstStyle/>
          <a:p>
            <a:pPr indent="0" marL="0">
              <a:buNone/>
            </a:pPr>
            <a:r>
              <a:rPr lang="en-US" sz="3600" b="1" dirty="0">
                <a:solidFill>
                  <a:schemeClr val="accent1"/>
                </a:solidFill>
                <a:latin typeface="Consolas" pitchFamily="34" charset="0"/>
                <a:ea typeface="Consolas" pitchFamily="34" charset="-122"/>
                <a:cs typeface="Consolas" pitchFamily="34" charset="-120"/>
              </a:rPr>
              <a:t>8.5%</a:t>
            </a:r>
            <a:endParaRPr lang="en-US" sz="3600" dirty="0"/>
          </a:p>
        </p:txBody>
      </p:sp>
      <p:sp>
        <p:nvSpPr>
          <p:cNvPr id="12" name="text-77"/>
          <p:cNvSpPr txBox="1"/>
          <p:nvPr/>
        </p:nvSpPr>
        <p:spPr>
          <a:xfrm>
            <a:off x="7744968" y="3834336"/>
            <a:ext cx="3696919" cy="457200"/>
          </a:xfrm>
          <a:prstGeom prst="rect">
            <a:avLst/>
          </a:prstGeom>
          <a:noFill/>
          <a:ln/>
        </p:spPr>
        <p:txBody>
          <a:bodyPr wrap="square" lIns="0" tIns="0" rIns="0" bIns="0" rtlCol="0" anchor="t"/>
          <a:lstStyle/>
          <a:p>
            <a:pPr indent="0" marL="0">
              <a:buNone/>
            </a:pPr>
            <a:r>
              <a:rPr lang="en-US" sz="1500" dirty="0">
                <a:solidFill>
                  <a:schemeClr val="tx1"/>
                </a:solidFill>
              </a:rPr>
              <a:t>SBP Islamic LTFF for exporters: recommended</a:t>
            </a:r>
            <a:endParaRPr lang="en-US" sz="1500" dirty="0"/>
          </a:p>
        </p:txBody>
      </p:sp>
      <p:sp>
        <p:nvSpPr>
          <p:cNvPr id="13" name="box-78"/>
          <p:cNvSpPr/>
          <p:nvPr/>
        </p:nvSpPr>
        <p:spPr>
          <a:xfrm>
            <a:off x="7543800" y="4596287"/>
            <a:ext cx="4099255" cy="1310592"/>
          </a:xfrm>
          <a:prstGeom prst="rect">
            <a:avLst/>
          </a:prstGeom>
          <a:solidFill>
            <a:schemeClr val="bg1"/>
          </a:solidFill>
          <a:ln w="9525">
            <a:solidFill>
              <a:schemeClr val="accent5"/>
            </a:solidFill>
            <a:prstDash val="solid"/>
          </a:ln>
        </p:spPr>
      </p:sp>
      <p:sp>
        <p:nvSpPr>
          <p:cNvPr id="14" name="text-79"/>
          <p:cNvSpPr txBox="1"/>
          <p:nvPr/>
        </p:nvSpPr>
        <p:spPr>
          <a:xfrm>
            <a:off x="7744968" y="4779167"/>
            <a:ext cx="3696919" cy="548640"/>
          </a:xfrm>
          <a:prstGeom prst="rect">
            <a:avLst/>
          </a:prstGeom>
          <a:noFill/>
          <a:ln/>
        </p:spPr>
        <p:txBody>
          <a:bodyPr wrap="square" lIns="0" tIns="0" rIns="0" bIns="0" rtlCol="0" anchor="t"/>
          <a:lstStyle/>
          <a:p>
            <a:pPr indent="0" marL="0">
              <a:buNone/>
            </a:pPr>
            <a:r>
              <a:rPr lang="en-US" sz="3600" b="1" dirty="0">
                <a:solidFill>
                  <a:schemeClr val="accent3"/>
                </a:solidFill>
                <a:latin typeface="Consolas" pitchFamily="34" charset="0"/>
                <a:ea typeface="Consolas" pitchFamily="34" charset="-122"/>
                <a:cs typeface="Consolas" pitchFamily="34" charset="-120"/>
              </a:rPr>
              <a:t>Blocked</a:t>
            </a:r>
            <a:endParaRPr lang="en-US" sz="3600" dirty="0"/>
          </a:p>
        </p:txBody>
      </p:sp>
      <p:sp>
        <p:nvSpPr>
          <p:cNvPr id="15" name="text-80"/>
          <p:cNvSpPr txBox="1"/>
          <p:nvPr/>
        </p:nvSpPr>
        <p:spPr>
          <a:xfrm>
            <a:off x="7744968" y="5346095"/>
            <a:ext cx="3696919" cy="457200"/>
          </a:xfrm>
          <a:prstGeom prst="rect">
            <a:avLst/>
          </a:prstGeom>
          <a:noFill/>
          <a:ln/>
        </p:spPr>
        <p:txBody>
          <a:bodyPr wrap="square" lIns="0" tIns="0" rIns="0" bIns="0" rtlCol="0" anchor="t"/>
          <a:lstStyle/>
          <a:p>
            <a:pPr indent="0" marL="0">
              <a:buNone/>
            </a:pPr>
            <a:r>
              <a:rPr lang="en-US" sz="1500" dirty="0">
                <a:solidFill>
                  <a:schemeClr val="tx1"/>
                </a:solidFill>
              </a:rPr>
              <a:t>a fake “new bank account” email, before any payment</a:t>
            </a:r>
            <a:endParaRPr lang="en-US" sz="15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81"/>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PROBLEM</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DATA / INPUT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AI COMPONENT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b="1" spc="100" kern="0" dirty="0">
                <a:solidFill>
                  <a:schemeClr val="accent1"/>
                </a:solidFill>
                <a:latin typeface="Consolas" pitchFamily="34" charset="0"/>
                <a:ea typeface="Consolas" pitchFamily="34" charset="-122"/>
                <a:cs typeface="Consolas" pitchFamily="34" charset="-120"/>
              </a:rPr>
              <a:t>SOLUTION</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IMPACT</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Shariah-compliant by default</a:t>
            </a:r>
            <a:endParaRPr lang="en-US" sz="3600" dirty="0"/>
          </a:p>
        </p:txBody>
      </p:sp>
      <p:sp>
        <p:nvSpPr>
          <p:cNvPr id="4" name="box-82"/>
          <p:cNvSpPr/>
          <p:nvPr/>
        </p:nvSpPr>
        <p:spPr>
          <a:xfrm>
            <a:off x="548640" y="1600200"/>
            <a:ext cx="3268980" cy="1463040"/>
          </a:xfrm>
          <a:prstGeom prst="rect">
            <a:avLst/>
          </a:prstGeom>
          <a:solidFill>
            <a:schemeClr val="accent1"/>
          </a:solidFill>
          <a:ln/>
        </p:spPr>
      </p:sp>
      <p:sp>
        <p:nvSpPr>
          <p:cNvPr id="5" name="text-83"/>
          <p:cNvSpPr txBox="1"/>
          <p:nvPr/>
        </p:nvSpPr>
        <p:spPr>
          <a:xfrm>
            <a:off x="749808" y="1764792"/>
            <a:ext cx="1668780" cy="640080"/>
          </a:xfrm>
          <a:prstGeom prst="rect">
            <a:avLst/>
          </a:prstGeom>
          <a:noFill/>
          <a:ln/>
        </p:spPr>
        <p:txBody>
          <a:bodyPr wrap="square" lIns="0" tIns="0" rIns="0" bIns="0" rtlCol="0" anchor="t"/>
          <a:lstStyle/>
          <a:p>
            <a:pPr indent="0" marL="0">
              <a:buNone/>
            </a:pPr>
            <a:r>
              <a:rPr lang="en-US" sz="1700" b="1" dirty="0">
                <a:solidFill>
                  <a:schemeClr val="bg1"/>
                </a:solidFill>
              </a:rPr>
              <a:t>SBP Islamic LTFF</a:t>
            </a:r>
            <a:endParaRPr lang="en-US" sz="1700" dirty="0"/>
          </a:p>
        </p:txBody>
      </p:sp>
      <p:sp>
        <p:nvSpPr>
          <p:cNvPr id="6" name="text-84"/>
          <p:cNvSpPr txBox="1"/>
          <p:nvPr/>
        </p:nvSpPr>
        <p:spPr>
          <a:xfrm>
            <a:off x="2400300" y="1709928"/>
            <a:ext cx="1234440" cy="457200"/>
          </a:xfrm>
          <a:prstGeom prst="rect">
            <a:avLst/>
          </a:prstGeom>
          <a:noFill/>
          <a:ln/>
        </p:spPr>
        <p:txBody>
          <a:bodyPr wrap="square" lIns="0" tIns="0" rIns="0" bIns="0" rtlCol="0" anchor="t"/>
          <a:lstStyle/>
          <a:p>
            <a:pPr algn="r" indent="0" marL="0">
              <a:buNone/>
            </a:pPr>
            <a:r>
              <a:rPr lang="en-US" sz="2400" b="1" dirty="0">
                <a:solidFill>
                  <a:schemeClr val="bg1"/>
                </a:solidFill>
                <a:latin typeface="Consolas" pitchFamily="34" charset="0"/>
                <a:ea typeface="Consolas" pitchFamily="34" charset="-122"/>
                <a:cs typeface="Consolas" pitchFamily="34" charset="-120"/>
              </a:rPr>
              <a:t>8.5%</a:t>
            </a:r>
            <a:endParaRPr lang="en-US" sz="2400" dirty="0"/>
          </a:p>
        </p:txBody>
      </p:sp>
      <p:sp>
        <p:nvSpPr>
          <p:cNvPr id="7" name="text-85"/>
          <p:cNvSpPr txBox="1"/>
          <p:nvPr/>
        </p:nvSpPr>
        <p:spPr>
          <a:xfrm>
            <a:off x="749808" y="2496312"/>
            <a:ext cx="2866644" cy="457200"/>
          </a:xfrm>
          <a:prstGeom prst="rect">
            <a:avLst/>
          </a:prstGeom>
          <a:noFill/>
          <a:ln/>
        </p:spPr>
        <p:txBody>
          <a:bodyPr wrap="square" lIns="0" tIns="0" rIns="0" bIns="0" rtlCol="0" anchor="t"/>
          <a:lstStyle/>
          <a:p>
            <a:pPr indent="0" marL="0">
              <a:buNone/>
            </a:pPr>
            <a:r>
              <a:rPr lang="en-US" sz="1300" dirty="0">
                <a:solidFill>
                  <a:schemeClr val="bg1"/>
                </a:solidFill>
              </a:rPr>
              <a:t>Exporters, new machinery · SBP policy rate − 3%</a:t>
            </a:r>
            <a:endParaRPr lang="en-US" sz="1300" dirty="0"/>
          </a:p>
        </p:txBody>
      </p:sp>
      <p:sp>
        <p:nvSpPr>
          <p:cNvPr id="8" name="box-86"/>
          <p:cNvSpPr/>
          <p:nvPr/>
        </p:nvSpPr>
        <p:spPr>
          <a:xfrm>
            <a:off x="4046220" y="1600200"/>
            <a:ext cx="3268980" cy="1463040"/>
          </a:xfrm>
          <a:prstGeom prst="rect">
            <a:avLst/>
          </a:prstGeom>
          <a:solidFill>
            <a:schemeClr val="bg1"/>
          </a:solidFill>
          <a:ln w="9525">
            <a:solidFill>
              <a:schemeClr val="accent5"/>
            </a:solidFill>
            <a:prstDash val="solid"/>
          </a:ln>
        </p:spPr>
      </p:sp>
      <p:sp>
        <p:nvSpPr>
          <p:cNvPr id="9" name="text-87"/>
          <p:cNvSpPr txBox="1"/>
          <p:nvPr/>
        </p:nvSpPr>
        <p:spPr>
          <a:xfrm>
            <a:off x="4247388" y="1764792"/>
            <a:ext cx="1668780" cy="640080"/>
          </a:xfrm>
          <a:prstGeom prst="rect">
            <a:avLst/>
          </a:prstGeom>
          <a:noFill/>
          <a:ln/>
        </p:spPr>
        <p:txBody>
          <a:bodyPr wrap="square" lIns="0" tIns="0" rIns="0" bIns="0" rtlCol="0" anchor="t"/>
          <a:lstStyle/>
          <a:p>
            <a:pPr indent="0" marL="0">
              <a:buNone/>
            </a:pPr>
            <a:r>
              <a:rPr lang="en-US" sz="1700" b="1" dirty="0">
                <a:solidFill>
                  <a:schemeClr val="tx1"/>
                </a:solidFill>
              </a:rPr>
              <a:t>Ijarah</a:t>
            </a:r>
            <a:endParaRPr lang="en-US" sz="1700" dirty="0"/>
          </a:p>
        </p:txBody>
      </p:sp>
      <p:sp>
        <p:nvSpPr>
          <p:cNvPr id="10" name="text-88"/>
          <p:cNvSpPr txBox="1"/>
          <p:nvPr/>
        </p:nvSpPr>
        <p:spPr>
          <a:xfrm>
            <a:off x="5897880" y="1709928"/>
            <a:ext cx="1234440" cy="457200"/>
          </a:xfrm>
          <a:prstGeom prst="rect">
            <a:avLst/>
          </a:prstGeom>
          <a:noFill/>
          <a:ln/>
        </p:spPr>
        <p:txBody>
          <a:bodyPr wrap="square" lIns="0" tIns="0" rIns="0" bIns="0" rtlCol="0" anchor="t"/>
          <a:lstStyle/>
          <a:p>
            <a:pPr algn="r" indent="0" marL="0">
              <a:buNone/>
            </a:pPr>
            <a:r>
              <a:rPr lang="en-US" sz="2400" b="1" dirty="0">
                <a:solidFill>
                  <a:schemeClr val="accent1"/>
                </a:solidFill>
                <a:latin typeface="Consolas" pitchFamily="34" charset="0"/>
                <a:ea typeface="Consolas" pitchFamily="34" charset="-122"/>
                <a:cs typeface="Consolas" pitchFamily="34" charset="-120"/>
              </a:rPr>
              <a:t>14.8%</a:t>
            </a:r>
            <a:endParaRPr lang="en-US" sz="2400" dirty="0"/>
          </a:p>
        </p:txBody>
      </p:sp>
      <p:sp>
        <p:nvSpPr>
          <p:cNvPr id="11" name="text-89"/>
          <p:cNvSpPr txBox="1"/>
          <p:nvPr/>
        </p:nvSpPr>
        <p:spPr>
          <a:xfrm>
            <a:off x="4247388" y="2496312"/>
            <a:ext cx="2866644" cy="457200"/>
          </a:xfrm>
          <a:prstGeom prst="rect">
            <a:avLst/>
          </a:prstGeom>
          <a:noFill/>
          <a:ln/>
        </p:spPr>
        <p:txBody>
          <a:bodyPr wrap="square" lIns="0" tIns="0" rIns="0" bIns="0" rtlCol="0" anchor="t"/>
          <a:lstStyle/>
          <a:p>
            <a:pPr indent="0" marL="0">
              <a:buNone/>
            </a:pPr>
            <a:r>
              <a:rPr lang="en-US" sz="1300" dirty="0">
                <a:solidFill>
                  <a:schemeClr val="accent4"/>
                </a:solidFill>
              </a:rPr>
              <a:t>Lease: deposit + rentals · KIBOR + 3%</a:t>
            </a:r>
            <a:endParaRPr lang="en-US" sz="1300" dirty="0"/>
          </a:p>
        </p:txBody>
      </p:sp>
      <p:sp>
        <p:nvSpPr>
          <p:cNvPr id="12" name="box-90"/>
          <p:cNvSpPr/>
          <p:nvPr/>
        </p:nvSpPr>
        <p:spPr>
          <a:xfrm>
            <a:off x="548640" y="3291840"/>
            <a:ext cx="3268980" cy="1463040"/>
          </a:xfrm>
          <a:prstGeom prst="rect">
            <a:avLst/>
          </a:prstGeom>
          <a:solidFill>
            <a:schemeClr val="bg1"/>
          </a:solidFill>
          <a:ln w="9525">
            <a:solidFill>
              <a:schemeClr val="accent5"/>
            </a:solidFill>
            <a:prstDash val="solid"/>
          </a:ln>
        </p:spPr>
      </p:sp>
      <p:sp>
        <p:nvSpPr>
          <p:cNvPr id="13" name="text-91"/>
          <p:cNvSpPr txBox="1"/>
          <p:nvPr/>
        </p:nvSpPr>
        <p:spPr>
          <a:xfrm>
            <a:off x="749808" y="3456432"/>
            <a:ext cx="1668780" cy="640080"/>
          </a:xfrm>
          <a:prstGeom prst="rect">
            <a:avLst/>
          </a:prstGeom>
          <a:noFill/>
          <a:ln/>
        </p:spPr>
        <p:txBody>
          <a:bodyPr wrap="square" lIns="0" tIns="0" rIns="0" bIns="0" rtlCol="0" anchor="t"/>
          <a:lstStyle/>
          <a:p>
            <a:pPr indent="0" marL="0">
              <a:buNone/>
            </a:pPr>
            <a:r>
              <a:rPr lang="en-US" sz="1700" b="1" dirty="0">
                <a:solidFill>
                  <a:schemeClr val="tx1"/>
                </a:solidFill>
              </a:rPr>
              <a:t>Diminishing Musharakah</a:t>
            </a:r>
            <a:endParaRPr lang="en-US" sz="1700" dirty="0"/>
          </a:p>
        </p:txBody>
      </p:sp>
      <p:sp>
        <p:nvSpPr>
          <p:cNvPr id="14" name="text-92"/>
          <p:cNvSpPr txBox="1"/>
          <p:nvPr/>
        </p:nvSpPr>
        <p:spPr>
          <a:xfrm>
            <a:off x="2400300" y="3401568"/>
            <a:ext cx="1234440" cy="457200"/>
          </a:xfrm>
          <a:prstGeom prst="rect">
            <a:avLst/>
          </a:prstGeom>
          <a:noFill/>
          <a:ln/>
        </p:spPr>
        <p:txBody>
          <a:bodyPr wrap="square" lIns="0" tIns="0" rIns="0" bIns="0" rtlCol="0" anchor="t"/>
          <a:lstStyle/>
          <a:p>
            <a:pPr algn="r" indent="0" marL="0">
              <a:buNone/>
            </a:pPr>
            <a:r>
              <a:rPr lang="en-US" sz="2400" b="1" dirty="0">
                <a:solidFill>
                  <a:schemeClr val="accent1"/>
                </a:solidFill>
                <a:latin typeface="Consolas" pitchFamily="34" charset="0"/>
                <a:ea typeface="Consolas" pitchFamily="34" charset="-122"/>
                <a:cs typeface="Consolas" pitchFamily="34" charset="-120"/>
              </a:rPr>
              <a:t>14.8%</a:t>
            </a:r>
            <a:endParaRPr lang="en-US" sz="2400" dirty="0"/>
          </a:p>
        </p:txBody>
      </p:sp>
      <p:sp>
        <p:nvSpPr>
          <p:cNvPr id="15" name="text-93"/>
          <p:cNvSpPr txBox="1"/>
          <p:nvPr/>
        </p:nvSpPr>
        <p:spPr>
          <a:xfrm>
            <a:off x="749808" y="4187952"/>
            <a:ext cx="2866644" cy="457200"/>
          </a:xfrm>
          <a:prstGeom prst="rect">
            <a:avLst/>
          </a:prstGeom>
          <a:noFill/>
          <a:ln/>
        </p:spPr>
        <p:txBody>
          <a:bodyPr wrap="square" lIns="0" tIns="0" rIns="0" bIns="0" rtlCol="0" anchor="t"/>
          <a:lstStyle/>
          <a:p>
            <a:pPr indent="0" marL="0">
              <a:buNone/>
            </a:pPr>
            <a:r>
              <a:rPr lang="en-US" sz="1300" dirty="0">
                <a:solidFill>
                  <a:schemeClr val="accent4"/>
                </a:solidFill>
              </a:rPr>
              <a:t>Co-own, then buy the bank’s units · KIBOR + 3%</a:t>
            </a:r>
            <a:endParaRPr lang="en-US" sz="1300" dirty="0"/>
          </a:p>
        </p:txBody>
      </p:sp>
      <p:sp>
        <p:nvSpPr>
          <p:cNvPr id="16" name="box-94"/>
          <p:cNvSpPr/>
          <p:nvPr/>
        </p:nvSpPr>
        <p:spPr>
          <a:xfrm>
            <a:off x="4046220" y="3291840"/>
            <a:ext cx="3268980" cy="1463040"/>
          </a:xfrm>
          <a:prstGeom prst="rect">
            <a:avLst/>
          </a:prstGeom>
          <a:solidFill>
            <a:schemeClr val="bg1"/>
          </a:solidFill>
          <a:ln w="9525">
            <a:solidFill>
              <a:schemeClr val="accent5"/>
            </a:solidFill>
            <a:prstDash val="solid"/>
          </a:ln>
        </p:spPr>
      </p:sp>
      <p:sp>
        <p:nvSpPr>
          <p:cNvPr id="17" name="text-95"/>
          <p:cNvSpPr txBox="1"/>
          <p:nvPr/>
        </p:nvSpPr>
        <p:spPr>
          <a:xfrm>
            <a:off x="4247388" y="3456432"/>
            <a:ext cx="1668780" cy="640080"/>
          </a:xfrm>
          <a:prstGeom prst="rect">
            <a:avLst/>
          </a:prstGeom>
          <a:noFill/>
          <a:ln/>
        </p:spPr>
        <p:txBody>
          <a:bodyPr wrap="square" lIns="0" tIns="0" rIns="0" bIns="0" rtlCol="0" anchor="t"/>
          <a:lstStyle/>
          <a:p>
            <a:pPr indent="0" marL="0">
              <a:buNone/>
            </a:pPr>
            <a:r>
              <a:rPr lang="en-US" sz="1700" b="1" dirty="0">
                <a:solidFill>
                  <a:schemeClr val="tx1"/>
                </a:solidFill>
              </a:rPr>
              <a:t>Murabaha</a:t>
            </a:r>
            <a:endParaRPr lang="en-US" sz="1700" dirty="0"/>
          </a:p>
        </p:txBody>
      </p:sp>
      <p:sp>
        <p:nvSpPr>
          <p:cNvPr id="18" name="text-96"/>
          <p:cNvSpPr txBox="1"/>
          <p:nvPr/>
        </p:nvSpPr>
        <p:spPr>
          <a:xfrm>
            <a:off x="5897880" y="3401568"/>
            <a:ext cx="1234440" cy="457200"/>
          </a:xfrm>
          <a:prstGeom prst="rect">
            <a:avLst/>
          </a:prstGeom>
          <a:noFill/>
          <a:ln/>
        </p:spPr>
        <p:txBody>
          <a:bodyPr wrap="square" lIns="0" tIns="0" rIns="0" bIns="0" rtlCol="0" anchor="t"/>
          <a:lstStyle/>
          <a:p>
            <a:pPr algn="r" indent="0" marL="0">
              <a:buNone/>
            </a:pPr>
            <a:r>
              <a:rPr lang="en-US" sz="2400" b="1" dirty="0">
                <a:solidFill>
                  <a:schemeClr val="accent1"/>
                </a:solidFill>
                <a:latin typeface="Consolas" pitchFamily="34" charset="0"/>
                <a:ea typeface="Consolas" pitchFamily="34" charset="-122"/>
                <a:cs typeface="Consolas" pitchFamily="34" charset="-120"/>
              </a:rPr>
              <a:t>preset</a:t>
            </a:r>
            <a:endParaRPr lang="en-US" sz="2400" dirty="0"/>
          </a:p>
        </p:txBody>
      </p:sp>
      <p:sp>
        <p:nvSpPr>
          <p:cNvPr id="19" name="text-97"/>
          <p:cNvSpPr txBox="1"/>
          <p:nvPr/>
        </p:nvSpPr>
        <p:spPr>
          <a:xfrm>
            <a:off x="4247388" y="4187952"/>
            <a:ext cx="2866644" cy="457200"/>
          </a:xfrm>
          <a:prstGeom prst="rect">
            <a:avLst/>
          </a:prstGeom>
          <a:noFill/>
          <a:ln/>
        </p:spPr>
        <p:txBody>
          <a:bodyPr wrap="square" lIns="0" tIns="0" rIns="0" bIns="0" rtlCol="0" anchor="t"/>
          <a:lstStyle/>
          <a:p>
            <a:pPr indent="0" marL="0">
              <a:buNone/>
            </a:pPr>
            <a:r>
              <a:rPr lang="en-US" sz="1300" dirty="0">
                <a:solidFill>
                  <a:schemeClr val="accent4"/>
                </a:solidFill>
              </a:rPr>
              <a:t>Cost-plus sale, price fixed at the contract</a:t>
            </a:r>
            <a:endParaRPr lang="en-US" sz="1300" dirty="0"/>
          </a:p>
        </p:txBody>
      </p:sp>
      <p:sp>
        <p:nvSpPr>
          <p:cNvPr id="20" name="text-98"/>
          <p:cNvSpPr txBox="1"/>
          <p:nvPr/>
        </p:nvSpPr>
        <p:spPr>
          <a:xfrm>
            <a:off x="548640" y="4983480"/>
            <a:ext cx="6766560" cy="128016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Tax: </a:t>
            </a:r>
            <a:pPr indent="0" marL="0">
              <a:spcAft>
                <a:spcPts val="400"/>
              </a:spcAft>
              <a:buNone/>
            </a:pPr>
            <a:r>
              <a:rPr lang="en-US" sz="1400" dirty="0">
                <a:solidFill>
                  <a:schemeClr val="tx1"/>
                </a:solidFill>
              </a:rPr>
              <a:t>the correct treatment for each mode.</a:t>
            </a:r>
            <a:endParaRPr lang="en-US" sz="1400" dirty="0"/>
          </a:p>
          <a:p>
            <a:pPr indent="0" marL="0">
              <a:spcAft>
                <a:spcPts val="400"/>
              </a:spcAft>
              <a:buNone/>
            </a:pPr>
            <a:r>
              <a:rPr lang="en-US" sz="1400" b="1" dirty="0">
                <a:solidFill>
                  <a:schemeClr val="tx1"/>
                </a:solidFill>
              </a:rPr>
              <a:t>“0%” plan: </a:t>
            </a:r>
            <a:pPr indent="0" marL="0">
              <a:spcAft>
                <a:spcPts val="400"/>
              </a:spcAft>
              <a:buNone/>
            </a:pPr>
            <a:r>
              <a:rPr lang="en-US" sz="1400" dirty="0">
                <a:solidFill>
                  <a:schemeClr val="tx1"/>
                </a:solidFill>
              </a:rPr>
              <a:t>a permissible deferred-price sale; we show its yearly cost.</a:t>
            </a:r>
            <a:endParaRPr lang="en-US" sz="1400" dirty="0"/>
          </a:p>
          <a:p>
            <a:pPr indent="0" marL="0">
              <a:spcAft>
                <a:spcPts val="400"/>
              </a:spcAft>
              <a:buNone/>
            </a:pPr>
            <a:r>
              <a:rPr lang="en-US" sz="1400" b="1" dirty="0">
                <a:solidFill>
                  <a:schemeClr val="tx1"/>
                </a:solidFill>
              </a:rPr>
              <a:t>Conventional loans: </a:t>
            </a:r>
            <a:pPr indent="0" marL="0">
              <a:spcAft>
                <a:spcPts val="400"/>
              </a:spcAft>
              <a:buNone/>
            </a:pPr>
            <a:r>
              <a:rPr lang="en-US" sz="1400" dirty="0">
                <a:solidFill>
                  <a:schemeClr val="tx1"/>
                </a:solidFill>
              </a:rPr>
              <a:t>only on request, labelled, never recommended.</a:t>
            </a:r>
            <a:endParaRPr lang="en-US" sz="1400" dirty="0"/>
          </a:p>
          <a:p>
            <a:pPr indent="0" marL="0">
              <a:spcAft>
                <a:spcPts val="400"/>
              </a:spcAft>
              <a:buNone/>
            </a:pPr>
            <a:r>
              <a:rPr lang="en-US" sz="1400" b="1" dirty="0">
                <a:solidFill>
                  <a:schemeClr val="accent1"/>
                </a:solidFill>
              </a:rPr>
              <a:t>New: </a:t>
            </a:r>
            <a:pPr indent="0" marL="0">
              <a:spcAft>
                <a:spcPts val="400"/>
              </a:spcAft>
              <a:buNone/>
            </a:pPr>
            <a:r>
              <a:rPr lang="en-US" sz="1400" dirty="0">
                <a:solidFill>
                  <a:schemeClr val="tx1"/>
                </a:solidFill>
              </a:rPr>
              <a:t>a “pay in full when affordable” switch.</a:t>
            </a:r>
            <a:endParaRPr lang="en-US" sz="1400" dirty="0"/>
          </a:p>
        </p:txBody>
      </p:sp>
      <p:sp>
        <p:nvSpPr>
          <p:cNvPr id="21" name="box-99"/>
          <p:cNvSpPr/>
          <p:nvPr/>
        </p:nvSpPr>
        <p:spPr>
          <a:xfrm>
            <a:off x="7818120" y="1600200"/>
            <a:ext cx="3824935" cy="4663440"/>
          </a:xfrm>
          <a:prstGeom prst="rect">
            <a:avLst/>
          </a:prstGeom>
          <a:solidFill>
            <a:schemeClr val="tx1"/>
          </a:solidFill>
          <a:ln/>
        </p:spPr>
      </p:sp>
      <p:sp>
        <p:nvSpPr>
          <p:cNvPr id="22" name="text-100"/>
          <p:cNvSpPr txBox="1"/>
          <p:nvPr/>
        </p:nvSpPr>
        <p:spPr>
          <a:xfrm>
            <a:off x="8138160" y="1828800"/>
            <a:ext cx="3184855" cy="256032"/>
          </a:xfrm>
          <a:prstGeom prst="rect">
            <a:avLst/>
          </a:prstGeom>
          <a:noFill/>
          <a:ln/>
        </p:spPr>
        <p:txBody>
          <a:bodyPr wrap="square" lIns="0" tIns="0" rIns="0" bIns="0" rtlCol="0" anchor="t"/>
          <a:lstStyle/>
          <a:p>
            <a:pPr indent="0" marL="0">
              <a:buNone/>
            </a:pPr>
            <a:r>
              <a:rPr lang="en-US" sz="1100" b="1" spc="100" kern="0" dirty="0">
                <a:solidFill>
                  <a:schemeClr val="bg2"/>
                </a:solidFill>
                <a:latin typeface="Consolas" pitchFamily="34" charset="0"/>
                <a:ea typeface="Consolas" pitchFamily="34" charset="-122"/>
                <a:cs typeface="Consolas" pitchFamily="34" charset="-120"/>
              </a:rPr>
              <a:t>WHY NOW</a:t>
            </a:r>
            <a:endParaRPr lang="en-US" sz="1100" dirty="0"/>
          </a:p>
        </p:txBody>
      </p:sp>
      <p:sp>
        <p:nvSpPr>
          <p:cNvPr id="23" name="text-101"/>
          <p:cNvSpPr txBox="1"/>
          <p:nvPr/>
        </p:nvSpPr>
        <p:spPr>
          <a:xfrm>
            <a:off x="8138160" y="2194560"/>
            <a:ext cx="3184855" cy="640080"/>
          </a:xfrm>
          <a:prstGeom prst="rect">
            <a:avLst/>
          </a:prstGeom>
          <a:noFill/>
          <a:ln/>
        </p:spPr>
        <p:txBody>
          <a:bodyPr wrap="square" lIns="0" tIns="0" rIns="0" bIns="0" rtlCol="0" anchor="t"/>
          <a:lstStyle/>
          <a:p>
            <a:pPr indent="0" marL="0">
              <a:buNone/>
            </a:pPr>
            <a:r>
              <a:rPr lang="en-US" sz="3800" b="1" dirty="0">
                <a:solidFill>
                  <a:schemeClr val="bg1"/>
                </a:solidFill>
                <a:latin typeface="Consolas" pitchFamily="34" charset="0"/>
                <a:ea typeface="Consolas" pitchFamily="34" charset="-122"/>
                <a:cs typeface="Consolas" pitchFamily="34" charset="-120"/>
              </a:rPr>
              <a:t>1 Jan 2028</a:t>
            </a:r>
            <a:endParaRPr lang="en-US" sz="3800" dirty="0"/>
          </a:p>
        </p:txBody>
      </p:sp>
      <p:sp>
        <p:nvSpPr>
          <p:cNvPr id="24" name="text-102"/>
          <p:cNvSpPr txBox="1"/>
          <p:nvPr/>
        </p:nvSpPr>
        <p:spPr>
          <a:xfrm>
            <a:off x="8138160" y="2880360"/>
            <a:ext cx="3184855" cy="640080"/>
          </a:xfrm>
          <a:prstGeom prst="rect">
            <a:avLst/>
          </a:prstGeom>
          <a:noFill/>
          <a:ln/>
        </p:spPr>
        <p:txBody>
          <a:bodyPr wrap="square" lIns="0" tIns="0" rIns="0" bIns="0" rtlCol="0" anchor="t"/>
          <a:lstStyle/>
          <a:p>
            <a:pPr indent="0" marL="0">
              <a:buNone/>
            </a:pPr>
            <a:r>
              <a:rPr lang="en-US" sz="1500" dirty="0">
                <a:solidFill>
                  <a:schemeClr val="bg2"/>
                </a:solidFill>
              </a:rPr>
              <a:t>26th Amendment: riba to be eliminated before this date</a:t>
            </a:r>
            <a:endParaRPr lang="en-US" sz="1500" dirty="0"/>
          </a:p>
        </p:txBody>
      </p:sp>
      <p:sp>
        <p:nvSpPr>
          <p:cNvPr id="25" name="rule-103"/>
          <p:cNvSpPr/>
          <p:nvPr/>
        </p:nvSpPr>
        <p:spPr>
          <a:xfrm>
            <a:off x="8138160" y="3749040"/>
            <a:ext cx="3184855" cy="0"/>
          </a:xfrm>
          <a:prstGeom prst="line">
            <a:avLst/>
          </a:prstGeom>
          <a:noFill/>
          <a:ln w="9525">
            <a:solidFill>
              <a:schemeClr val="accent4"/>
            </a:solidFill>
            <a:prstDash val="solid"/>
          </a:ln>
        </p:spPr>
      </p:sp>
      <p:sp>
        <p:nvSpPr>
          <p:cNvPr id="26" name="text-104"/>
          <p:cNvSpPr txBox="1"/>
          <p:nvPr/>
        </p:nvSpPr>
        <p:spPr>
          <a:xfrm>
            <a:off x="8138160" y="3977640"/>
            <a:ext cx="3184855" cy="640080"/>
          </a:xfrm>
          <a:prstGeom prst="rect">
            <a:avLst/>
          </a:prstGeom>
          <a:noFill/>
          <a:ln/>
        </p:spPr>
        <p:txBody>
          <a:bodyPr wrap="square" lIns="0" tIns="0" rIns="0" bIns="0" rtlCol="0" anchor="t"/>
          <a:lstStyle/>
          <a:p>
            <a:pPr indent="0" marL="0">
              <a:buNone/>
            </a:pPr>
            <a:r>
              <a:rPr lang="en-US" sz="3800" b="1" dirty="0">
                <a:solidFill>
                  <a:schemeClr val="bg1"/>
                </a:solidFill>
                <a:latin typeface="Consolas" pitchFamily="34" charset="0"/>
                <a:ea typeface="Consolas" pitchFamily="34" charset="-122"/>
                <a:cs typeface="Consolas" pitchFamily="34" charset="-120"/>
              </a:rPr>
              <a:t>38.1%</a:t>
            </a:r>
            <a:endParaRPr lang="en-US" sz="3800" dirty="0"/>
          </a:p>
        </p:txBody>
      </p:sp>
      <p:sp>
        <p:nvSpPr>
          <p:cNvPr id="27" name="text-105"/>
          <p:cNvSpPr txBox="1"/>
          <p:nvPr/>
        </p:nvSpPr>
        <p:spPr>
          <a:xfrm>
            <a:off x="8138160" y="4663440"/>
            <a:ext cx="3184855" cy="548640"/>
          </a:xfrm>
          <a:prstGeom prst="rect">
            <a:avLst/>
          </a:prstGeom>
          <a:noFill/>
          <a:ln/>
        </p:spPr>
        <p:txBody>
          <a:bodyPr wrap="square" lIns="0" tIns="0" rIns="0" bIns="0" rtlCol="0" anchor="t"/>
          <a:lstStyle/>
          <a:p>
            <a:pPr indent="0" marL="0">
              <a:buNone/>
            </a:pPr>
            <a:r>
              <a:rPr lang="en-US" sz="1500" dirty="0">
                <a:solidFill>
                  <a:schemeClr val="bg2"/>
                </a:solidFill>
              </a:rPr>
              <a:t>of bank financing in Pakistan is already Islamic</a:t>
            </a:r>
            <a:endParaRPr lang="en-US" sz="1500" dirty="0"/>
          </a:p>
        </p:txBody>
      </p:sp>
      <p:sp>
        <p:nvSpPr>
          <p:cNvPr id="28" name="text-106"/>
          <p:cNvSpPr txBox="1"/>
          <p:nvPr/>
        </p:nvSpPr>
        <p:spPr>
          <a:xfrm>
            <a:off x="8138160" y="5760720"/>
            <a:ext cx="3184855" cy="274320"/>
          </a:xfrm>
          <a:prstGeom prst="rect">
            <a:avLst/>
          </a:prstGeom>
          <a:noFill/>
          <a:ln/>
        </p:spPr>
        <p:txBody>
          <a:bodyPr wrap="square" lIns="0" tIns="0" rIns="0" bIns="0" rtlCol="0" anchor="t"/>
          <a:lstStyle/>
          <a:p>
            <a:pPr indent="0" marL="0">
              <a:buNone/>
            </a:pPr>
            <a:r>
              <a:rPr lang="en-US" sz="1000" dirty="0">
                <a:solidFill>
                  <a:schemeClr val="bg2"/>
                </a:solidFill>
              </a:rPr>
              <a:t>Source: SBP Islamic Banking Bulletin, Dec 2025</a:t>
            </a:r>
            <a:endParaRPr lang="en-US" sz="10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107"/>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PROBLEM</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DATA / INPUT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AI COMPONENT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SOLUTION</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b="1" spc="100" kern="0" dirty="0">
                <a:solidFill>
                  <a:schemeClr val="accent1"/>
                </a:solidFill>
                <a:latin typeface="Consolas" pitchFamily="34" charset="0"/>
                <a:ea typeface="Consolas" pitchFamily="34" charset="-122"/>
                <a:cs typeface="Consolas" pitchFamily="34" charset="-120"/>
              </a:rPr>
              <a:t>IMPACT</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What one decision is worth</a:t>
            </a:r>
            <a:endParaRPr lang="en-US" sz="3600" dirty="0"/>
          </a:p>
        </p:txBody>
      </p:sp>
      <p:sp>
        <p:nvSpPr>
          <p:cNvPr id="4" name="box-108"/>
          <p:cNvSpPr/>
          <p:nvPr/>
        </p:nvSpPr>
        <p:spPr>
          <a:xfrm>
            <a:off x="548640" y="1600200"/>
            <a:ext cx="2602154" cy="2011680"/>
          </a:xfrm>
          <a:prstGeom prst="rect">
            <a:avLst/>
          </a:prstGeom>
          <a:solidFill>
            <a:schemeClr val="bg1"/>
          </a:solidFill>
          <a:ln w="9525">
            <a:solidFill>
              <a:schemeClr val="accent5"/>
            </a:solidFill>
            <a:prstDash val="solid"/>
          </a:ln>
        </p:spPr>
      </p:sp>
      <p:sp>
        <p:nvSpPr>
          <p:cNvPr id="5" name="text-109"/>
          <p:cNvSpPr txBox="1"/>
          <p:nvPr/>
        </p:nvSpPr>
        <p:spPr>
          <a:xfrm>
            <a:off x="749808" y="1801368"/>
            <a:ext cx="2199818" cy="548640"/>
          </a:xfrm>
          <a:prstGeom prst="rect">
            <a:avLst/>
          </a:prstGeom>
          <a:noFill/>
          <a:ln/>
        </p:spPr>
        <p:txBody>
          <a:bodyPr wrap="square" lIns="0" tIns="0" rIns="0" bIns="0" rtlCol="0" anchor="t"/>
          <a:lstStyle/>
          <a:p>
            <a:pPr indent="0" marL="0">
              <a:buNone/>
            </a:pPr>
            <a:r>
              <a:rPr lang="en-US" sz="3200" b="1" dirty="0">
                <a:solidFill>
                  <a:schemeClr val="accent1"/>
                </a:solidFill>
                <a:latin typeface="Consolas" pitchFamily="34" charset="0"/>
                <a:ea typeface="Consolas" pitchFamily="34" charset="-122"/>
                <a:cs typeface="Consolas" pitchFamily="34" charset="-120"/>
              </a:rPr>
              <a:t>5.8 lakh</a:t>
            </a:r>
            <a:endParaRPr lang="en-US" sz="3200" dirty="0"/>
          </a:p>
        </p:txBody>
      </p:sp>
      <p:sp>
        <p:nvSpPr>
          <p:cNvPr id="6" name="text-110"/>
          <p:cNvSpPr txBox="1"/>
          <p:nvPr/>
        </p:nvSpPr>
        <p:spPr>
          <a:xfrm>
            <a:off x="749808" y="2423160"/>
            <a:ext cx="2199818" cy="548640"/>
          </a:xfrm>
          <a:prstGeom prst="rect">
            <a:avLst/>
          </a:prstGeom>
          <a:noFill/>
          <a:ln/>
        </p:spPr>
        <p:txBody>
          <a:bodyPr wrap="square" lIns="0" tIns="0" rIns="0" bIns="0" rtlCol="0" anchor="t"/>
          <a:lstStyle/>
          <a:p>
            <a:pPr indent="0" marL="0">
              <a:buNone/>
            </a:pPr>
            <a:r>
              <a:rPr lang="en-US" sz="1600" b="1" dirty="0">
                <a:solidFill>
                  <a:schemeClr val="tx1"/>
                </a:solidFill>
              </a:rPr>
              <a:t>rupees saved vs the quoted plan</a:t>
            </a:r>
            <a:endParaRPr lang="en-US" sz="1600" dirty="0"/>
          </a:p>
        </p:txBody>
      </p:sp>
      <p:sp>
        <p:nvSpPr>
          <p:cNvPr id="7" name="text-111"/>
          <p:cNvSpPr txBox="1"/>
          <p:nvPr/>
        </p:nvSpPr>
        <p:spPr>
          <a:xfrm>
            <a:off x="749808" y="3017520"/>
            <a:ext cx="2199818" cy="457200"/>
          </a:xfrm>
          <a:prstGeom prst="rect">
            <a:avLst/>
          </a:prstGeom>
          <a:noFill/>
          <a:ln/>
        </p:spPr>
        <p:txBody>
          <a:bodyPr wrap="square" lIns="0" tIns="0" rIns="0" bIns="0" rtlCol="0" anchor="t"/>
          <a:lstStyle/>
          <a:p>
            <a:pPr indent="0" marL="0">
              <a:buNone/>
            </a:pPr>
            <a:r>
              <a:rPr lang="en-US" sz="1300" dirty="0">
                <a:solidFill>
                  <a:schemeClr val="accent4"/>
                </a:solidFill>
              </a:rPr>
              <a:t>Rs 5,79,103 · Rs 4,73,603 after tax</a:t>
            </a:r>
            <a:endParaRPr lang="en-US" sz="1300" dirty="0"/>
          </a:p>
        </p:txBody>
      </p:sp>
      <p:sp>
        <p:nvSpPr>
          <p:cNvPr id="8" name="box-112"/>
          <p:cNvSpPr/>
          <p:nvPr/>
        </p:nvSpPr>
        <p:spPr>
          <a:xfrm>
            <a:off x="3379394" y="1600200"/>
            <a:ext cx="2602154" cy="2011680"/>
          </a:xfrm>
          <a:prstGeom prst="rect">
            <a:avLst/>
          </a:prstGeom>
          <a:solidFill>
            <a:schemeClr val="bg1"/>
          </a:solidFill>
          <a:ln w="9525">
            <a:solidFill>
              <a:schemeClr val="accent5"/>
            </a:solidFill>
            <a:prstDash val="solid"/>
          </a:ln>
        </p:spPr>
      </p:sp>
      <p:sp>
        <p:nvSpPr>
          <p:cNvPr id="9" name="text-113"/>
          <p:cNvSpPr txBox="1"/>
          <p:nvPr/>
        </p:nvSpPr>
        <p:spPr>
          <a:xfrm>
            <a:off x="3580562" y="1801368"/>
            <a:ext cx="2199818" cy="548640"/>
          </a:xfrm>
          <a:prstGeom prst="rect">
            <a:avLst/>
          </a:prstGeom>
          <a:noFill/>
          <a:ln/>
        </p:spPr>
        <p:txBody>
          <a:bodyPr wrap="square" lIns="0" tIns="0" rIns="0" bIns="0" rtlCol="0" anchor="t"/>
          <a:lstStyle/>
          <a:p>
            <a:pPr indent="0" marL="0">
              <a:buNone/>
            </a:pPr>
            <a:r>
              <a:rPr lang="en-US" sz="3200" b="1" dirty="0">
                <a:solidFill>
                  <a:schemeClr val="accent1"/>
                </a:solidFill>
                <a:latin typeface="Consolas" pitchFamily="34" charset="0"/>
                <a:ea typeface="Consolas" pitchFamily="34" charset="-122"/>
                <a:cs typeface="Consolas" pitchFamily="34" charset="-120"/>
              </a:rPr>
              <a:t>2.59 mo</a:t>
            </a:r>
            <a:endParaRPr lang="en-US" sz="3200" dirty="0"/>
          </a:p>
        </p:txBody>
      </p:sp>
      <p:sp>
        <p:nvSpPr>
          <p:cNvPr id="10" name="text-114"/>
          <p:cNvSpPr txBox="1"/>
          <p:nvPr/>
        </p:nvSpPr>
        <p:spPr>
          <a:xfrm>
            <a:off x="3580562" y="2423160"/>
            <a:ext cx="2199818" cy="548640"/>
          </a:xfrm>
          <a:prstGeom prst="rect">
            <a:avLst/>
          </a:prstGeom>
          <a:noFill/>
          <a:ln/>
        </p:spPr>
        <p:txBody>
          <a:bodyPr wrap="square" lIns="0" tIns="0" rIns="0" bIns="0" rtlCol="0" anchor="t"/>
          <a:lstStyle/>
          <a:p>
            <a:pPr indent="0" marL="0">
              <a:buNone/>
            </a:pPr>
            <a:r>
              <a:rPr lang="en-US" sz="1600" b="1" dirty="0">
                <a:solidFill>
                  <a:schemeClr val="tx1"/>
                </a:solidFill>
              </a:rPr>
              <a:t>of costs kept in the bank</a:t>
            </a:r>
            <a:endParaRPr lang="en-US" sz="1600" dirty="0"/>
          </a:p>
        </p:txBody>
      </p:sp>
      <p:sp>
        <p:nvSpPr>
          <p:cNvPr id="11" name="text-115"/>
          <p:cNvSpPr txBox="1"/>
          <p:nvPr/>
        </p:nvSpPr>
        <p:spPr>
          <a:xfrm>
            <a:off x="3580562" y="3017520"/>
            <a:ext cx="2199818" cy="457200"/>
          </a:xfrm>
          <a:prstGeom prst="rect">
            <a:avLst/>
          </a:prstGeom>
          <a:noFill/>
          <a:ln/>
        </p:spPr>
        <p:txBody>
          <a:bodyPr wrap="square" lIns="0" tIns="0" rIns="0" bIns="0" rtlCol="0" anchor="t"/>
          <a:lstStyle/>
          <a:p>
            <a:pPr indent="0" marL="0">
              <a:buNone/>
            </a:pPr>
            <a:r>
              <a:rPr lang="en-US" sz="1300" dirty="0">
                <a:solidFill>
                  <a:schemeClr val="accent4"/>
                </a:solidFill>
              </a:rPr>
              <a:t>paying cash would leave 1.33</a:t>
            </a:r>
            <a:endParaRPr lang="en-US" sz="1300" dirty="0"/>
          </a:p>
        </p:txBody>
      </p:sp>
      <p:sp>
        <p:nvSpPr>
          <p:cNvPr id="12" name="box-116"/>
          <p:cNvSpPr/>
          <p:nvPr/>
        </p:nvSpPr>
        <p:spPr>
          <a:xfrm>
            <a:off x="6210148" y="1600200"/>
            <a:ext cx="2602154" cy="2011680"/>
          </a:xfrm>
          <a:prstGeom prst="rect">
            <a:avLst/>
          </a:prstGeom>
          <a:solidFill>
            <a:schemeClr val="bg1"/>
          </a:solidFill>
          <a:ln w="9525">
            <a:solidFill>
              <a:schemeClr val="accent5"/>
            </a:solidFill>
            <a:prstDash val="solid"/>
          </a:ln>
        </p:spPr>
      </p:sp>
      <p:sp>
        <p:nvSpPr>
          <p:cNvPr id="13" name="text-117"/>
          <p:cNvSpPr txBox="1"/>
          <p:nvPr/>
        </p:nvSpPr>
        <p:spPr>
          <a:xfrm>
            <a:off x="6411316" y="1801368"/>
            <a:ext cx="2199818" cy="548640"/>
          </a:xfrm>
          <a:prstGeom prst="rect">
            <a:avLst/>
          </a:prstGeom>
          <a:noFill/>
          <a:ln/>
        </p:spPr>
        <p:txBody>
          <a:bodyPr wrap="square" lIns="0" tIns="0" rIns="0" bIns="0" rtlCol="0" anchor="t"/>
          <a:lstStyle/>
          <a:p>
            <a:pPr indent="0" marL="0">
              <a:buNone/>
            </a:pPr>
            <a:r>
              <a:rPr lang="en-US" sz="3200" b="1" dirty="0">
                <a:solidFill>
                  <a:schemeClr val="accent3"/>
                </a:solidFill>
                <a:latin typeface="Consolas" pitchFamily="34" charset="0"/>
                <a:ea typeface="Consolas" pitchFamily="34" charset="-122"/>
                <a:cs typeface="Consolas" pitchFamily="34" charset="-120"/>
              </a:rPr>
              <a:t>Stopped</a:t>
            </a:r>
            <a:endParaRPr lang="en-US" sz="3200" dirty="0"/>
          </a:p>
        </p:txBody>
      </p:sp>
      <p:sp>
        <p:nvSpPr>
          <p:cNvPr id="14" name="text-118"/>
          <p:cNvSpPr txBox="1"/>
          <p:nvPr/>
        </p:nvSpPr>
        <p:spPr>
          <a:xfrm>
            <a:off x="6411316" y="2423160"/>
            <a:ext cx="2199818" cy="548640"/>
          </a:xfrm>
          <a:prstGeom prst="rect">
            <a:avLst/>
          </a:prstGeom>
          <a:noFill/>
          <a:ln/>
        </p:spPr>
        <p:txBody>
          <a:bodyPr wrap="square" lIns="0" tIns="0" rIns="0" bIns="0" rtlCol="0" anchor="t"/>
          <a:lstStyle/>
          <a:p>
            <a:pPr indent="0" marL="0">
              <a:buNone/>
            </a:pPr>
            <a:r>
              <a:rPr lang="en-US" sz="1600" b="1" dirty="0">
                <a:solidFill>
                  <a:schemeClr val="tx1"/>
                </a:solidFill>
              </a:rPr>
              <a:t>fake bank-account email</a:t>
            </a:r>
            <a:endParaRPr lang="en-US" sz="1600" dirty="0"/>
          </a:p>
        </p:txBody>
      </p:sp>
      <p:sp>
        <p:nvSpPr>
          <p:cNvPr id="15" name="text-119"/>
          <p:cNvSpPr txBox="1"/>
          <p:nvPr/>
        </p:nvSpPr>
        <p:spPr>
          <a:xfrm>
            <a:off x="6411316" y="3017520"/>
            <a:ext cx="2199818" cy="457200"/>
          </a:xfrm>
          <a:prstGeom prst="rect">
            <a:avLst/>
          </a:prstGeom>
          <a:noFill/>
          <a:ln/>
        </p:spPr>
        <p:txBody>
          <a:bodyPr wrap="square" lIns="0" tIns="0" rIns="0" bIns="0" rtlCol="0" anchor="t"/>
          <a:lstStyle/>
          <a:p>
            <a:pPr indent="0" marL="0">
              <a:buNone/>
            </a:pPr>
            <a:r>
              <a:rPr lang="en-US" sz="1300" dirty="0">
                <a:solidFill>
                  <a:schemeClr val="accent4"/>
                </a:solidFill>
              </a:rPr>
              <a:t>blocked until a phone check</a:t>
            </a:r>
            <a:endParaRPr lang="en-US" sz="1300" dirty="0"/>
          </a:p>
        </p:txBody>
      </p:sp>
      <p:sp>
        <p:nvSpPr>
          <p:cNvPr id="16" name="box-120"/>
          <p:cNvSpPr/>
          <p:nvPr/>
        </p:nvSpPr>
        <p:spPr>
          <a:xfrm>
            <a:off x="9040901" y="1600200"/>
            <a:ext cx="2602154" cy="2011680"/>
          </a:xfrm>
          <a:prstGeom prst="rect">
            <a:avLst/>
          </a:prstGeom>
          <a:solidFill>
            <a:schemeClr val="bg1"/>
          </a:solidFill>
          <a:ln w="9525">
            <a:solidFill>
              <a:schemeClr val="accent5"/>
            </a:solidFill>
            <a:prstDash val="solid"/>
          </a:ln>
        </p:spPr>
      </p:sp>
      <p:sp>
        <p:nvSpPr>
          <p:cNvPr id="17" name="text-121"/>
          <p:cNvSpPr txBox="1"/>
          <p:nvPr/>
        </p:nvSpPr>
        <p:spPr>
          <a:xfrm>
            <a:off x="9242069" y="1801368"/>
            <a:ext cx="2199818" cy="548640"/>
          </a:xfrm>
          <a:prstGeom prst="rect">
            <a:avLst/>
          </a:prstGeom>
          <a:noFill/>
          <a:ln/>
        </p:spPr>
        <p:txBody>
          <a:bodyPr wrap="square" lIns="0" tIns="0" rIns="0" bIns="0" rtlCol="0" anchor="t"/>
          <a:lstStyle/>
          <a:p>
            <a:pPr indent="0" marL="0">
              <a:buNone/>
            </a:pPr>
            <a:r>
              <a:rPr lang="en-US" sz="3200" b="1" dirty="0">
                <a:solidFill>
                  <a:schemeClr val="tx1"/>
                </a:solidFill>
                <a:latin typeface="Consolas" pitchFamily="34" charset="0"/>
                <a:ea typeface="Consolas" pitchFamily="34" charset="-122"/>
                <a:cs typeface="Consolas" pitchFamily="34" charset="-120"/>
              </a:rPr>
              <a:t>$0.002</a:t>
            </a:r>
            <a:endParaRPr lang="en-US" sz="3200" dirty="0"/>
          </a:p>
        </p:txBody>
      </p:sp>
      <p:sp>
        <p:nvSpPr>
          <p:cNvPr id="18" name="text-122"/>
          <p:cNvSpPr txBox="1"/>
          <p:nvPr/>
        </p:nvSpPr>
        <p:spPr>
          <a:xfrm>
            <a:off x="9242069" y="2423160"/>
            <a:ext cx="2199818" cy="548640"/>
          </a:xfrm>
          <a:prstGeom prst="rect">
            <a:avLst/>
          </a:prstGeom>
          <a:noFill/>
          <a:ln/>
        </p:spPr>
        <p:txBody>
          <a:bodyPr wrap="square" lIns="0" tIns="0" rIns="0" bIns="0" rtlCol="0" anchor="t"/>
          <a:lstStyle/>
          <a:p>
            <a:pPr indent="0" marL="0">
              <a:buNone/>
            </a:pPr>
            <a:r>
              <a:rPr lang="en-US" sz="1600" b="1" dirty="0">
                <a:solidFill>
                  <a:schemeClr val="tx1"/>
                </a:solidFill>
              </a:rPr>
              <a:t>AI cost per full decision</a:t>
            </a:r>
            <a:endParaRPr lang="en-US" sz="1600" dirty="0"/>
          </a:p>
        </p:txBody>
      </p:sp>
      <p:sp>
        <p:nvSpPr>
          <p:cNvPr id="19" name="text-123"/>
          <p:cNvSpPr txBox="1"/>
          <p:nvPr/>
        </p:nvSpPr>
        <p:spPr>
          <a:xfrm>
            <a:off x="9242069" y="3017520"/>
            <a:ext cx="2199818" cy="457200"/>
          </a:xfrm>
          <a:prstGeom prst="rect">
            <a:avLst/>
          </a:prstGeom>
          <a:noFill/>
          <a:ln/>
        </p:spPr>
        <p:txBody>
          <a:bodyPr wrap="square" lIns="0" tIns="0" rIns="0" bIns="0" rtlCol="0" anchor="t"/>
          <a:lstStyle/>
          <a:p>
            <a:pPr indent="0" marL="0">
              <a:buNone/>
            </a:pPr>
            <a:r>
              <a:rPr lang="en-US" sz="1300" dirty="0">
                <a:solidFill>
                  <a:schemeClr val="accent4"/>
                </a:solidFill>
              </a:rPr>
              <a:t>OpenAI API usage</a:t>
            </a:r>
            <a:endParaRPr lang="en-US" sz="1300" dirty="0"/>
          </a:p>
        </p:txBody>
      </p:sp>
      <p:sp>
        <p:nvSpPr>
          <p:cNvPr id="20" name="text-124"/>
          <p:cNvSpPr txBox="1"/>
          <p:nvPr/>
        </p:nvSpPr>
        <p:spPr>
          <a:xfrm>
            <a:off x="548640" y="3858768"/>
            <a:ext cx="11094415" cy="256032"/>
          </a:xfrm>
          <a:prstGeom prst="rect">
            <a:avLst/>
          </a:prstGeom>
          <a:noFill/>
          <a:ln/>
        </p:spPr>
        <p:txBody>
          <a:bodyPr wrap="square" lIns="0" tIns="0" rIns="0" bIns="0" rtlCol="0" anchor="t"/>
          <a:lstStyle/>
          <a:p>
            <a:pPr indent="0" marL="0">
              <a:buNone/>
            </a:pPr>
            <a:r>
              <a:rPr lang="en-US" sz="1100" b="1" spc="100" kern="0" dirty="0">
                <a:solidFill>
                  <a:schemeClr val="accent4"/>
                </a:solidFill>
                <a:latin typeface="Consolas" pitchFamily="34" charset="0"/>
                <a:ea typeface="Consolas" pitchFamily="34" charset="-122"/>
                <a:cs typeface="Consolas" pitchFamily="34" charset="-120"/>
              </a:rPr>
              <a:t>SUSTAINABLE DEVELOPMENT GOALS</a:t>
            </a:r>
            <a:endParaRPr lang="en-US" sz="1100" dirty="0"/>
          </a:p>
        </p:txBody>
      </p:sp>
      <p:sp>
        <p:nvSpPr>
          <p:cNvPr id="21" name="box-125"/>
          <p:cNvSpPr/>
          <p:nvPr/>
        </p:nvSpPr>
        <p:spPr>
          <a:xfrm>
            <a:off x="548640" y="4206240"/>
            <a:ext cx="3545738" cy="1828800"/>
          </a:xfrm>
          <a:prstGeom prst="rect">
            <a:avLst/>
          </a:prstGeom>
          <a:solidFill>
            <a:schemeClr val="accent6"/>
          </a:solidFill>
          <a:ln/>
        </p:spPr>
      </p:sp>
      <p:sp>
        <p:nvSpPr>
          <p:cNvPr id="22" name="box-126"/>
          <p:cNvSpPr/>
          <p:nvPr/>
        </p:nvSpPr>
        <p:spPr>
          <a:xfrm>
            <a:off x="749808" y="4434840"/>
            <a:ext cx="566928" cy="566928"/>
          </a:xfrm>
          <a:prstGeom prst="rect">
            <a:avLst/>
          </a:prstGeom>
          <a:solidFill>
            <a:srgbClr val="A21942"/>
          </a:solidFill>
          <a:ln/>
        </p:spPr>
      </p:sp>
      <p:sp>
        <p:nvSpPr>
          <p:cNvPr id="23" name="text-127"/>
          <p:cNvSpPr txBox="1"/>
          <p:nvPr/>
        </p:nvSpPr>
        <p:spPr>
          <a:xfrm>
            <a:off x="749808" y="4434840"/>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8</a:t>
            </a:r>
            <a:endParaRPr lang="en-US" sz="2400" dirty="0"/>
          </a:p>
        </p:txBody>
      </p:sp>
      <p:sp>
        <p:nvSpPr>
          <p:cNvPr id="24" name="text-128"/>
          <p:cNvSpPr txBox="1"/>
          <p:nvPr/>
        </p:nvSpPr>
        <p:spPr>
          <a:xfrm>
            <a:off x="1463040" y="4407408"/>
            <a:ext cx="2448458" cy="292608"/>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SDG 8.3</a:t>
            </a:r>
            <a:endParaRPr lang="en-US" sz="1300" dirty="0"/>
          </a:p>
        </p:txBody>
      </p:sp>
      <p:sp>
        <p:nvSpPr>
          <p:cNvPr id="25" name="text-129"/>
          <p:cNvSpPr txBox="1"/>
          <p:nvPr/>
        </p:nvSpPr>
        <p:spPr>
          <a:xfrm>
            <a:off x="1463040" y="4681728"/>
            <a:ext cx="2448458" cy="566928"/>
          </a:xfrm>
          <a:prstGeom prst="rect">
            <a:avLst/>
          </a:prstGeom>
          <a:noFill/>
          <a:ln/>
        </p:spPr>
        <p:txBody>
          <a:bodyPr wrap="square" lIns="0" tIns="0" rIns="0" bIns="0" rtlCol="0" anchor="t"/>
          <a:lstStyle/>
          <a:p>
            <a:pPr indent="0" marL="0">
              <a:buNone/>
            </a:pPr>
            <a:r>
              <a:rPr lang="en-US" sz="1600" b="1" dirty="0">
                <a:solidFill>
                  <a:schemeClr val="tx1"/>
                </a:solidFill>
              </a:rPr>
              <a:t>SME growth</a:t>
            </a:r>
            <a:endParaRPr lang="en-US" sz="1600" dirty="0"/>
          </a:p>
        </p:txBody>
      </p:sp>
      <p:sp>
        <p:nvSpPr>
          <p:cNvPr id="26" name="text-130"/>
          <p:cNvSpPr txBox="1"/>
          <p:nvPr/>
        </p:nvSpPr>
        <p:spPr>
          <a:xfrm>
            <a:off x="749808" y="5321808"/>
            <a:ext cx="3143402" cy="594360"/>
          </a:xfrm>
          <a:prstGeom prst="rect">
            <a:avLst/>
          </a:prstGeom>
          <a:noFill/>
          <a:ln/>
        </p:spPr>
        <p:txBody>
          <a:bodyPr wrap="square" lIns="0" tIns="0" rIns="0" bIns="0" rtlCol="0" anchor="t"/>
          <a:lstStyle/>
          <a:p>
            <a:pPr indent="0" marL="0">
              <a:buNone/>
            </a:pPr>
            <a:r>
              <a:rPr lang="en-US" sz="1400" dirty="0">
                <a:solidFill>
                  <a:schemeClr val="tx1"/>
                </a:solidFill>
              </a:rPr>
              <a:t>Better capital decisions for small manufacturers and exporters</a:t>
            </a:r>
            <a:endParaRPr lang="en-US" sz="1400" dirty="0"/>
          </a:p>
        </p:txBody>
      </p:sp>
      <p:sp>
        <p:nvSpPr>
          <p:cNvPr id="27" name="box-131"/>
          <p:cNvSpPr/>
          <p:nvPr/>
        </p:nvSpPr>
        <p:spPr>
          <a:xfrm>
            <a:off x="4322978" y="4206240"/>
            <a:ext cx="3545738" cy="1828800"/>
          </a:xfrm>
          <a:prstGeom prst="rect">
            <a:avLst/>
          </a:prstGeom>
          <a:solidFill>
            <a:schemeClr val="accent6"/>
          </a:solidFill>
          <a:ln/>
        </p:spPr>
      </p:sp>
      <p:sp>
        <p:nvSpPr>
          <p:cNvPr id="28" name="box-132"/>
          <p:cNvSpPr/>
          <p:nvPr/>
        </p:nvSpPr>
        <p:spPr>
          <a:xfrm>
            <a:off x="4524146" y="4434840"/>
            <a:ext cx="566928" cy="566928"/>
          </a:xfrm>
          <a:prstGeom prst="rect">
            <a:avLst/>
          </a:prstGeom>
          <a:solidFill>
            <a:srgbClr val="A21942"/>
          </a:solidFill>
          <a:ln/>
        </p:spPr>
      </p:sp>
      <p:sp>
        <p:nvSpPr>
          <p:cNvPr id="29" name="text-133"/>
          <p:cNvSpPr txBox="1"/>
          <p:nvPr/>
        </p:nvSpPr>
        <p:spPr>
          <a:xfrm>
            <a:off x="4524146" y="4434840"/>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8</a:t>
            </a:r>
            <a:endParaRPr lang="en-US" sz="2400" dirty="0"/>
          </a:p>
        </p:txBody>
      </p:sp>
      <p:sp>
        <p:nvSpPr>
          <p:cNvPr id="30" name="text-134"/>
          <p:cNvSpPr txBox="1"/>
          <p:nvPr/>
        </p:nvSpPr>
        <p:spPr>
          <a:xfrm>
            <a:off x="5237378" y="4407408"/>
            <a:ext cx="2448458" cy="292608"/>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SDG 8.10</a:t>
            </a:r>
            <a:endParaRPr lang="en-US" sz="1300" dirty="0"/>
          </a:p>
        </p:txBody>
      </p:sp>
      <p:sp>
        <p:nvSpPr>
          <p:cNvPr id="31" name="text-135"/>
          <p:cNvSpPr txBox="1"/>
          <p:nvPr/>
        </p:nvSpPr>
        <p:spPr>
          <a:xfrm>
            <a:off x="5237378" y="4681728"/>
            <a:ext cx="2448458" cy="566928"/>
          </a:xfrm>
          <a:prstGeom prst="rect">
            <a:avLst/>
          </a:prstGeom>
          <a:noFill/>
          <a:ln/>
        </p:spPr>
        <p:txBody>
          <a:bodyPr wrap="square" lIns="0" tIns="0" rIns="0" bIns="0" rtlCol="0" anchor="t"/>
          <a:lstStyle/>
          <a:p>
            <a:pPr indent="0" marL="0">
              <a:buNone/>
            </a:pPr>
            <a:r>
              <a:rPr lang="en-US" sz="1600" b="1" dirty="0">
                <a:solidFill>
                  <a:schemeClr val="tx1"/>
                </a:solidFill>
              </a:rPr>
              <a:t>Access to financial services</a:t>
            </a:r>
            <a:endParaRPr lang="en-US" sz="1600" dirty="0"/>
          </a:p>
        </p:txBody>
      </p:sp>
      <p:sp>
        <p:nvSpPr>
          <p:cNvPr id="32" name="text-136"/>
          <p:cNvSpPr txBox="1"/>
          <p:nvPr/>
        </p:nvSpPr>
        <p:spPr>
          <a:xfrm>
            <a:off x="4524146" y="5321808"/>
            <a:ext cx="3143402" cy="594360"/>
          </a:xfrm>
          <a:prstGeom prst="rect">
            <a:avLst/>
          </a:prstGeom>
          <a:noFill/>
          <a:ln/>
        </p:spPr>
        <p:txBody>
          <a:bodyPr wrap="square" lIns="0" tIns="0" rIns="0" bIns="0" rtlCol="0" anchor="t"/>
          <a:lstStyle/>
          <a:p>
            <a:pPr indent="0" marL="0">
              <a:buNone/>
            </a:pPr>
            <a:r>
              <a:rPr lang="en-US" sz="1400" dirty="0">
                <a:solidFill>
                  <a:schemeClr val="tx1"/>
                </a:solidFill>
              </a:rPr>
              <a:t>A ready term-sheet request to an Islamic bank’s SME desk</a:t>
            </a:r>
            <a:endParaRPr lang="en-US" sz="1400" dirty="0"/>
          </a:p>
        </p:txBody>
      </p:sp>
      <p:sp>
        <p:nvSpPr>
          <p:cNvPr id="33" name="box-137"/>
          <p:cNvSpPr/>
          <p:nvPr/>
        </p:nvSpPr>
        <p:spPr>
          <a:xfrm>
            <a:off x="8097317" y="4206240"/>
            <a:ext cx="3545738" cy="1828800"/>
          </a:xfrm>
          <a:prstGeom prst="rect">
            <a:avLst/>
          </a:prstGeom>
          <a:solidFill>
            <a:schemeClr val="accent6"/>
          </a:solidFill>
          <a:ln/>
        </p:spPr>
      </p:sp>
      <p:sp>
        <p:nvSpPr>
          <p:cNvPr id="34" name="box-138"/>
          <p:cNvSpPr/>
          <p:nvPr/>
        </p:nvSpPr>
        <p:spPr>
          <a:xfrm>
            <a:off x="8298485" y="4434840"/>
            <a:ext cx="566928" cy="566928"/>
          </a:xfrm>
          <a:prstGeom prst="rect">
            <a:avLst/>
          </a:prstGeom>
          <a:solidFill>
            <a:srgbClr val="FD6925"/>
          </a:solidFill>
          <a:ln/>
        </p:spPr>
      </p:sp>
      <p:sp>
        <p:nvSpPr>
          <p:cNvPr id="35" name="text-139"/>
          <p:cNvSpPr txBox="1"/>
          <p:nvPr/>
        </p:nvSpPr>
        <p:spPr>
          <a:xfrm>
            <a:off x="8298485" y="4434840"/>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9</a:t>
            </a:r>
            <a:endParaRPr lang="en-US" sz="2400" dirty="0"/>
          </a:p>
        </p:txBody>
      </p:sp>
      <p:sp>
        <p:nvSpPr>
          <p:cNvPr id="36" name="text-140"/>
          <p:cNvSpPr txBox="1"/>
          <p:nvPr/>
        </p:nvSpPr>
        <p:spPr>
          <a:xfrm>
            <a:off x="9011717" y="4407408"/>
            <a:ext cx="2448458" cy="292608"/>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SDG 9.3</a:t>
            </a:r>
            <a:endParaRPr lang="en-US" sz="1300" dirty="0"/>
          </a:p>
        </p:txBody>
      </p:sp>
      <p:sp>
        <p:nvSpPr>
          <p:cNvPr id="37" name="text-141"/>
          <p:cNvSpPr txBox="1"/>
          <p:nvPr/>
        </p:nvSpPr>
        <p:spPr>
          <a:xfrm>
            <a:off x="9011717" y="4681728"/>
            <a:ext cx="2448458" cy="566928"/>
          </a:xfrm>
          <a:prstGeom prst="rect">
            <a:avLst/>
          </a:prstGeom>
          <a:noFill/>
          <a:ln/>
        </p:spPr>
        <p:txBody>
          <a:bodyPr wrap="square" lIns="0" tIns="0" rIns="0" bIns="0" rtlCol="0" anchor="t"/>
          <a:lstStyle/>
          <a:p>
            <a:pPr indent="0" marL="0">
              <a:buNone/>
            </a:pPr>
            <a:r>
              <a:rPr lang="en-US" sz="1600" b="1" dirty="0">
                <a:solidFill>
                  <a:schemeClr val="tx1"/>
                </a:solidFill>
              </a:rPr>
              <a:t>Affordable credit for small industry</a:t>
            </a:r>
            <a:endParaRPr lang="en-US" sz="1600" dirty="0"/>
          </a:p>
        </p:txBody>
      </p:sp>
      <p:sp>
        <p:nvSpPr>
          <p:cNvPr id="38" name="text-142"/>
          <p:cNvSpPr txBox="1"/>
          <p:nvPr/>
        </p:nvSpPr>
        <p:spPr>
          <a:xfrm>
            <a:off x="8298485" y="5321808"/>
            <a:ext cx="3143402" cy="594360"/>
          </a:xfrm>
          <a:prstGeom prst="rect">
            <a:avLst/>
          </a:prstGeom>
          <a:noFill/>
          <a:ln/>
        </p:spPr>
        <p:txBody>
          <a:bodyPr wrap="square" lIns="0" tIns="0" rIns="0" bIns="0" rtlCol="0" anchor="t"/>
          <a:lstStyle/>
          <a:p>
            <a:pPr indent="0" marL="0">
              <a:buNone/>
            </a:pPr>
            <a:r>
              <a:rPr lang="en-US" sz="1400" dirty="0">
                <a:solidFill>
                  <a:schemeClr val="tx1"/>
                </a:solidFill>
              </a:rPr>
              <a:t>Surfaces SBP Islamic LTFF that most owners never ask for</a:t>
            </a:r>
            <a:endParaRPr lang="en-US" sz="14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143"/>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spc="100" kern="0" dirty="0">
                <a:solidFill>
                  <a:schemeClr val="accent4"/>
                </a:solidFill>
                <a:latin typeface="Consolas" pitchFamily="34" charset="0"/>
                <a:ea typeface="Consolas" pitchFamily="34" charset="-122"/>
                <a:cs typeface="Consolas" pitchFamily="34" charset="-120"/>
              </a:rPr>
              <a:t>PROBLEM</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DATA / INPUT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AI COMPONENT</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spc="100" kern="0" dirty="0">
                <a:solidFill>
                  <a:schemeClr val="accent4"/>
                </a:solidFill>
                <a:latin typeface="Consolas" pitchFamily="34" charset="0"/>
                <a:ea typeface="Consolas" pitchFamily="34" charset="-122"/>
                <a:cs typeface="Consolas" pitchFamily="34" charset="-120"/>
              </a:rPr>
              <a:t>SOLUTION</a:t>
            </a:r>
            <a:pPr indent="0" marL="0">
              <a:buNone/>
            </a:pPr>
            <a:r>
              <a:rPr lang="en-US" sz="1100" spc="100" kern="0" dirty="0">
                <a:solidFill>
                  <a:schemeClr val="accent5"/>
                </a:solidFill>
                <a:latin typeface="Consolas" pitchFamily="34" charset="0"/>
                <a:ea typeface="Consolas" pitchFamily="34" charset="-122"/>
                <a:cs typeface="Consolas" pitchFamily="34" charset="-120"/>
              </a:rPr>
              <a:t>   →   </a:t>
            </a:r>
            <a:pPr indent="0" marL="0">
              <a:buNone/>
            </a:pPr>
            <a:r>
              <a:rPr lang="en-US" sz="1100" b="1" spc="100" kern="0" dirty="0">
                <a:solidFill>
                  <a:schemeClr val="accent1"/>
                </a:solidFill>
                <a:latin typeface="Consolas" pitchFamily="34" charset="0"/>
                <a:ea typeface="Consolas" pitchFamily="34" charset="-122"/>
                <a:cs typeface="Consolas" pitchFamily="34" charset="-120"/>
              </a:rPr>
              <a:t>IMPACT</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All five Financial Operations areas, one flow</a:t>
            </a:r>
            <a:endParaRPr lang="en-US" sz="3600" dirty="0"/>
          </a:p>
        </p:txBody>
      </p:sp>
      <p:sp>
        <p:nvSpPr>
          <p:cNvPr id="4" name="rule-144"/>
          <p:cNvSpPr/>
          <p:nvPr/>
        </p:nvSpPr>
        <p:spPr>
          <a:xfrm>
            <a:off x="548640" y="1600200"/>
            <a:ext cx="7406640" cy="0"/>
          </a:xfrm>
          <a:prstGeom prst="line">
            <a:avLst/>
          </a:prstGeom>
          <a:noFill/>
          <a:ln w="19050">
            <a:solidFill>
              <a:schemeClr val="tx1"/>
            </a:solidFill>
            <a:prstDash val="solid"/>
          </a:ln>
        </p:spPr>
      </p:sp>
      <p:sp>
        <p:nvSpPr>
          <p:cNvPr id="5" name="text-145"/>
          <p:cNvSpPr txBox="1"/>
          <p:nvPr/>
        </p:nvSpPr>
        <p:spPr>
          <a:xfrm>
            <a:off x="548640" y="1600200"/>
            <a:ext cx="2377440" cy="804672"/>
          </a:xfrm>
          <a:prstGeom prst="rect">
            <a:avLst/>
          </a:prstGeom>
          <a:noFill/>
          <a:ln/>
        </p:spPr>
        <p:txBody>
          <a:bodyPr wrap="square" lIns="0" tIns="0" rIns="0" bIns="0" rtlCol="0" anchor="ctr"/>
          <a:lstStyle/>
          <a:p>
            <a:pPr indent="0" marL="0">
              <a:buNone/>
            </a:pPr>
            <a:r>
              <a:rPr lang="en-US" sz="1600" b="1" dirty="0">
                <a:solidFill>
                  <a:schemeClr val="accent1"/>
                </a:solidFill>
              </a:rPr>
              <a:t>✓  </a:t>
            </a:r>
            <a:pPr indent="0" marL="0">
              <a:buNone/>
            </a:pPr>
            <a:r>
              <a:rPr lang="en-US" sz="1600" b="1" dirty="0">
                <a:solidFill>
                  <a:schemeClr val="tx1"/>
                </a:solidFill>
              </a:rPr>
              <a:t>Financial planning</a:t>
            </a:r>
            <a:endParaRPr lang="en-US" sz="1600" dirty="0"/>
          </a:p>
        </p:txBody>
      </p:sp>
      <p:sp>
        <p:nvSpPr>
          <p:cNvPr id="6" name="text-146"/>
          <p:cNvSpPr txBox="1"/>
          <p:nvPr/>
        </p:nvSpPr>
        <p:spPr>
          <a:xfrm>
            <a:off x="2926080" y="1600200"/>
            <a:ext cx="5029200" cy="804672"/>
          </a:xfrm>
          <a:prstGeom prst="rect">
            <a:avLst/>
          </a:prstGeom>
          <a:noFill/>
          <a:ln/>
        </p:spPr>
        <p:txBody>
          <a:bodyPr wrap="square" lIns="0" tIns="0" rIns="0" bIns="0" rtlCol="0" anchor="ctr"/>
          <a:lstStyle/>
          <a:p>
            <a:pPr indent="0" marL="0">
              <a:buNone/>
            </a:pPr>
            <a:r>
              <a:rPr lang="en-US" sz="1500" dirty="0">
                <a:solidFill>
                  <a:schemeClr val="tx1"/>
                </a:solidFill>
              </a:rPr>
              <a:t>Every way to pay: PV, after-tax view, cash runway, KIBOR stress test</a:t>
            </a:r>
            <a:endParaRPr lang="en-US" sz="1500" dirty="0"/>
          </a:p>
        </p:txBody>
      </p:sp>
      <p:sp>
        <p:nvSpPr>
          <p:cNvPr id="7" name="rule-147"/>
          <p:cNvSpPr/>
          <p:nvPr/>
        </p:nvSpPr>
        <p:spPr>
          <a:xfrm>
            <a:off x="548640" y="2404872"/>
            <a:ext cx="7406640" cy="0"/>
          </a:xfrm>
          <a:prstGeom prst="line">
            <a:avLst/>
          </a:prstGeom>
          <a:noFill/>
          <a:ln w="9525">
            <a:solidFill>
              <a:schemeClr val="accent5"/>
            </a:solidFill>
            <a:prstDash val="solid"/>
          </a:ln>
        </p:spPr>
      </p:sp>
      <p:sp>
        <p:nvSpPr>
          <p:cNvPr id="8" name="text-148"/>
          <p:cNvSpPr txBox="1"/>
          <p:nvPr/>
        </p:nvSpPr>
        <p:spPr>
          <a:xfrm>
            <a:off x="548640" y="2404872"/>
            <a:ext cx="2377440" cy="804672"/>
          </a:xfrm>
          <a:prstGeom prst="rect">
            <a:avLst/>
          </a:prstGeom>
          <a:noFill/>
          <a:ln/>
        </p:spPr>
        <p:txBody>
          <a:bodyPr wrap="square" lIns="0" tIns="0" rIns="0" bIns="0" rtlCol="0" anchor="ctr"/>
          <a:lstStyle/>
          <a:p>
            <a:pPr indent="0" marL="0">
              <a:buNone/>
            </a:pPr>
            <a:r>
              <a:rPr lang="en-US" sz="1600" b="1" dirty="0">
                <a:solidFill>
                  <a:schemeClr val="accent1"/>
                </a:solidFill>
              </a:rPr>
              <a:t>✓  </a:t>
            </a:r>
            <a:pPr indent="0" marL="0">
              <a:buNone/>
            </a:pPr>
            <a:r>
              <a:rPr lang="en-US" sz="1600" b="1" dirty="0">
                <a:solidFill>
                  <a:schemeClr val="tx1"/>
                </a:solidFill>
              </a:rPr>
              <a:t>Credit &amp; risk</a:t>
            </a:r>
            <a:endParaRPr lang="en-US" sz="1600" dirty="0"/>
          </a:p>
        </p:txBody>
      </p:sp>
      <p:sp>
        <p:nvSpPr>
          <p:cNvPr id="9" name="text-149"/>
          <p:cNvSpPr txBox="1"/>
          <p:nvPr/>
        </p:nvSpPr>
        <p:spPr>
          <a:xfrm>
            <a:off x="2926080" y="2404872"/>
            <a:ext cx="5029200" cy="804672"/>
          </a:xfrm>
          <a:prstGeom prst="rect">
            <a:avLst/>
          </a:prstGeom>
          <a:noFill/>
          <a:ln/>
        </p:spPr>
        <p:txBody>
          <a:bodyPr wrap="square" lIns="0" tIns="0" rIns="0" bIns="0" rtlCol="0" anchor="ctr"/>
          <a:lstStyle/>
          <a:p>
            <a:pPr indent="0" marL="0">
              <a:buNone/>
            </a:pPr>
            <a:r>
              <a:rPr lang="en-US" sz="1500" dirty="0">
                <a:solidFill>
                  <a:schemeClr val="tx1"/>
                </a:solidFill>
              </a:rPr>
              <a:t>Islamic LTFF vs Ijarah vs Musharakah, cash-risk check, supplier reputation</a:t>
            </a:r>
            <a:endParaRPr lang="en-US" sz="1500" dirty="0"/>
          </a:p>
        </p:txBody>
      </p:sp>
      <p:sp>
        <p:nvSpPr>
          <p:cNvPr id="10" name="rule-150"/>
          <p:cNvSpPr/>
          <p:nvPr/>
        </p:nvSpPr>
        <p:spPr>
          <a:xfrm>
            <a:off x="548640" y="3209544"/>
            <a:ext cx="7406640" cy="0"/>
          </a:xfrm>
          <a:prstGeom prst="line">
            <a:avLst/>
          </a:prstGeom>
          <a:noFill/>
          <a:ln w="9525">
            <a:solidFill>
              <a:schemeClr val="accent5"/>
            </a:solidFill>
            <a:prstDash val="solid"/>
          </a:ln>
        </p:spPr>
      </p:sp>
      <p:sp>
        <p:nvSpPr>
          <p:cNvPr id="11" name="text-151"/>
          <p:cNvSpPr txBox="1"/>
          <p:nvPr/>
        </p:nvSpPr>
        <p:spPr>
          <a:xfrm>
            <a:off x="548640" y="3209544"/>
            <a:ext cx="2377440" cy="804672"/>
          </a:xfrm>
          <a:prstGeom prst="rect">
            <a:avLst/>
          </a:prstGeom>
          <a:noFill/>
          <a:ln/>
        </p:spPr>
        <p:txBody>
          <a:bodyPr wrap="square" lIns="0" tIns="0" rIns="0" bIns="0" rtlCol="0" anchor="ctr"/>
          <a:lstStyle/>
          <a:p>
            <a:pPr indent="0" marL="0">
              <a:buNone/>
            </a:pPr>
            <a:r>
              <a:rPr lang="en-US" sz="1600" b="1" dirty="0">
                <a:solidFill>
                  <a:schemeClr val="accent1"/>
                </a:solidFill>
              </a:rPr>
              <a:t>✓  </a:t>
            </a:r>
            <a:pPr indent="0" marL="0">
              <a:buNone/>
            </a:pPr>
            <a:r>
              <a:rPr lang="en-US" sz="1600" b="1" dirty="0">
                <a:solidFill>
                  <a:schemeClr val="tx1"/>
                </a:solidFill>
              </a:rPr>
              <a:t>Accounting automation</a:t>
            </a:r>
            <a:endParaRPr lang="en-US" sz="1600" dirty="0"/>
          </a:p>
        </p:txBody>
      </p:sp>
      <p:sp>
        <p:nvSpPr>
          <p:cNvPr id="12" name="text-152"/>
          <p:cNvSpPr txBox="1"/>
          <p:nvPr/>
        </p:nvSpPr>
        <p:spPr>
          <a:xfrm>
            <a:off x="2926080" y="3209544"/>
            <a:ext cx="5029200" cy="804672"/>
          </a:xfrm>
          <a:prstGeom prst="rect">
            <a:avLst/>
          </a:prstGeom>
          <a:noFill/>
          <a:ln/>
        </p:spPr>
        <p:txBody>
          <a:bodyPr wrap="square" lIns="0" tIns="0" rIns="0" bIns="0" rtlCol="0" anchor="ctr"/>
          <a:lstStyle/>
          <a:p>
            <a:pPr indent="0" marL="0">
              <a:buNone/>
            </a:pPr>
            <a:r>
              <a:rPr lang="en-US" sz="1500" dirty="0">
                <a:solidFill>
                  <a:schemeClr val="tx1"/>
                </a:solidFill>
              </a:rPr>
              <a:t>Quotation photo → checked data (qty × price vs printed totals)</a:t>
            </a:r>
            <a:endParaRPr lang="en-US" sz="1500" dirty="0"/>
          </a:p>
        </p:txBody>
      </p:sp>
      <p:sp>
        <p:nvSpPr>
          <p:cNvPr id="13" name="rule-153"/>
          <p:cNvSpPr/>
          <p:nvPr/>
        </p:nvSpPr>
        <p:spPr>
          <a:xfrm>
            <a:off x="548640" y="4014216"/>
            <a:ext cx="7406640" cy="0"/>
          </a:xfrm>
          <a:prstGeom prst="line">
            <a:avLst/>
          </a:prstGeom>
          <a:noFill/>
          <a:ln w="9525">
            <a:solidFill>
              <a:schemeClr val="accent5"/>
            </a:solidFill>
            <a:prstDash val="solid"/>
          </a:ln>
        </p:spPr>
      </p:sp>
      <p:sp>
        <p:nvSpPr>
          <p:cNvPr id="14" name="text-154"/>
          <p:cNvSpPr txBox="1"/>
          <p:nvPr/>
        </p:nvSpPr>
        <p:spPr>
          <a:xfrm>
            <a:off x="548640" y="4014216"/>
            <a:ext cx="2377440" cy="804672"/>
          </a:xfrm>
          <a:prstGeom prst="rect">
            <a:avLst/>
          </a:prstGeom>
          <a:noFill/>
          <a:ln/>
        </p:spPr>
        <p:txBody>
          <a:bodyPr wrap="square" lIns="0" tIns="0" rIns="0" bIns="0" rtlCol="0" anchor="ctr"/>
          <a:lstStyle/>
          <a:p>
            <a:pPr indent="0" marL="0">
              <a:buNone/>
            </a:pPr>
            <a:r>
              <a:rPr lang="en-US" sz="1600" b="1" dirty="0">
                <a:solidFill>
                  <a:schemeClr val="accent1"/>
                </a:solidFill>
              </a:rPr>
              <a:t>✓  </a:t>
            </a:r>
            <a:pPr indent="0" marL="0">
              <a:buNone/>
            </a:pPr>
            <a:r>
              <a:rPr lang="en-US" sz="1600" b="1" dirty="0">
                <a:solidFill>
                  <a:schemeClr val="tx1"/>
                </a:solidFill>
              </a:rPr>
              <a:t>Payments</a:t>
            </a:r>
            <a:endParaRPr lang="en-US" sz="1600" dirty="0"/>
          </a:p>
        </p:txBody>
      </p:sp>
      <p:sp>
        <p:nvSpPr>
          <p:cNvPr id="15" name="text-155"/>
          <p:cNvSpPr txBox="1"/>
          <p:nvPr/>
        </p:nvSpPr>
        <p:spPr>
          <a:xfrm>
            <a:off x="2926080" y="4014216"/>
            <a:ext cx="5029200" cy="804672"/>
          </a:xfrm>
          <a:prstGeom prst="rect">
            <a:avLst/>
          </a:prstGeom>
          <a:noFill/>
          <a:ln/>
        </p:spPr>
        <p:txBody>
          <a:bodyPr wrap="square" lIns="0" tIns="0" rIns="0" bIns="0" rtlCol="0" anchor="ctr"/>
          <a:lstStyle/>
          <a:p>
            <a:pPr indent="0" marL="0">
              <a:buNone/>
            </a:pPr>
            <a:r>
              <a:rPr lang="en-US" sz="1500" dirty="0">
                <a:solidFill>
                  <a:schemeClr val="tx1"/>
                </a:solidFill>
              </a:rPr>
              <a:t>Installment schedule, upcoming payments, term-sheet request to the bank</a:t>
            </a:r>
            <a:endParaRPr lang="en-US" sz="1500" dirty="0"/>
          </a:p>
        </p:txBody>
      </p:sp>
      <p:sp>
        <p:nvSpPr>
          <p:cNvPr id="16" name="rule-156"/>
          <p:cNvSpPr/>
          <p:nvPr/>
        </p:nvSpPr>
        <p:spPr>
          <a:xfrm>
            <a:off x="548640" y="4818888"/>
            <a:ext cx="7406640" cy="0"/>
          </a:xfrm>
          <a:prstGeom prst="line">
            <a:avLst/>
          </a:prstGeom>
          <a:noFill/>
          <a:ln w="9525">
            <a:solidFill>
              <a:schemeClr val="accent5"/>
            </a:solidFill>
            <a:prstDash val="solid"/>
          </a:ln>
        </p:spPr>
      </p:sp>
      <p:sp>
        <p:nvSpPr>
          <p:cNvPr id="17" name="text-157"/>
          <p:cNvSpPr txBox="1"/>
          <p:nvPr/>
        </p:nvSpPr>
        <p:spPr>
          <a:xfrm>
            <a:off x="548640" y="4818888"/>
            <a:ext cx="2377440" cy="804672"/>
          </a:xfrm>
          <a:prstGeom prst="rect">
            <a:avLst/>
          </a:prstGeom>
          <a:noFill/>
          <a:ln/>
        </p:spPr>
        <p:txBody>
          <a:bodyPr wrap="square" lIns="0" tIns="0" rIns="0" bIns="0" rtlCol="0" anchor="ctr"/>
          <a:lstStyle/>
          <a:p>
            <a:pPr indent="0" marL="0">
              <a:buNone/>
            </a:pPr>
            <a:r>
              <a:rPr lang="en-US" sz="1600" b="1" dirty="0">
                <a:solidFill>
                  <a:schemeClr val="accent1"/>
                </a:solidFill>
              </a:rPr>
              <a:t>✓  </a:t>
            </a:r>
            <a:pPr indent="0" marL="0">
              <a:buNone/>
            </a:pPr>
            <a:r>
              <a:rPr lang="en-US" sz="1600" b="1" dirty="0">
                <a:solidFill>
                  <a:schemeClr val="tx1"/>
                </a:solidFill>
              </a:rPr>
              <a:t>Fraud detection</a:t>
            </a:r>
            <a:endParaRPr lang="en-US" sz="1600" dirty="0"/>
          </a:p>
        </p:txBody>
      </p:sp>
      <p:sp>
        <p:nvSpPr>
          <p:cNvPr id="18" name="text-158"/>
          <p:cNvSpPr txBox="1"/>
          <p:nvPr/>
        </p:nvSpPr>
        <p:spPr>
          <a:xfrm>
            <a:off x="2926080" y="4818888"/>
            <a:ext cx="5029200" cy="804672"/>
          </a:xfrm>
          <a:prstGeom prst="rect">
            <a:avLst/>
          </a:prstGeom>
          <a:noFill/>
          <a:ln/>
        </p:spPr>
        <p:txBody>
          <a:bodyPr wrap="square" lIns="0" tIns="0" rIns="0" bIns="0" rtlCol="0" anchor="ctr"/>
          <a:lstStyle/>
          <a:p>
            <a:pPr indent="0" marL="0">
              <a:buNone/>
            </a:pPr>
            <a:r>
              <a:rPr lang="en-US" sz="1500" dirty="0">
                <a:solidFill>
                  <a:schemeClr val="tx1"/>
                </a:solidFill>
              </a:rPr>
              <a:t>“New bank account” check: IBAN, account title, sender domain, urgency</a:t>
            </a:r>
            <a:endParaRPr lang="en-US" sz="1500" dirty="0"/>
          </a:p>
        </p:txBody>
      </p:sp>
      <p:sp>
        <p:nvSpPr>
          <p:cNvPr id="19" name="rule-159"/>
          <p:cNvSpPr/>
          <p:nvPr/>
        </p:nvSpPr>
        <p:spPr>
          <a:xfrm>
            <a:off x="548640" y="5623560"/>
            <a:ext cx="7406640" cy="0"/>
          </a:xfrm>
          <a:prstGeom prst="line">
            <a:avLst/>
          </a:prstGeom>
          <a:noFill/>
          <a:ln w="19050">
            <a:solidFill>
              <a:schemeClr val="tx1"/>
            </a:solidFill>
            <a:prstDash val="solid"/>
          </a:ln>
        </p:spPr>
      </p:sp>
      <p:sp>
        <p:nvSpPr>
          <p:cNvPr id="20" name="text-160"/>
          <p:cNvSpPr txBox="1"/>
          <p:nvPr/>
        </p:nvSpPr>
        <p:spPr>
          <a:xfrm>
            <a:off x="8412480" y="1600200"/>
            <a:ext cx="3230575" cy="256032"/>
          </a:xfrm>
          <a:prstGeom prst="rect">
            <a:avLst/>
          </a:prstGeom>
          <a:noFill/>
          <a:ln/>
        </p:spPr>
        <p:txBody>
          <a:bodyPr wrap="square" lIns="0" tIns="0" rIns="0" bIns="0" rtlCol="0" anchor="t"/>
          <a:lstStyle/>
          <a:p>
            <a:pPr indent="0" marL="0">
              <a:buNone/>
            </a:pPr>
            <a:r>
              <a:rPr lang="en-US" sz="1100" b="1" spc="100" kern="0" dirty="0">
                <a:solidFill>
                  <a:schemeClr val="accent4"/>
                </a:solidFill>
                <a:latin typeface="Consolas" pitchFamily="34" charset="0"/>
                <a:ea typeface="Consolas" pitchFamily="34" charset="-122"/>
                <a:cs typeface="Consolas" pitchFamily="34" charset="-120"/>
              </a:rPr>
              <a:t>WHO PAYS</a:t>
            </a:r>
            <a:endParaRPr lang="en-US" sz="1100" dirty="0"/>
          </a:p>
        </p:txBody>
      </p:sp>
      <p:sp>
        <p:nvSpPr>
          <p:cNvPr id="21" name="box-161"/>
          <p:cNvSpPr/>
          <p:nvPr/>
        </p:nvSpPr>
        <p:spPr>
          <a:xfrm>
            <a:off x="8412480" y="1965960"/>
            <a:ext cx="3230575" cy="1188720"/>
          </a:xfrm>
          <a:prstGeom prst="rect">
            <a:avLst/>
          </a:prstGeom>
          <a:solidFill>
            <a:schemeClr val="accent1"/>
          </a:solidFill>
          <a:ln/>
        </p:spPr>
      </p:sp>
      <p:sp>
        <p:nvSpPr>
          <p:cNvPr id="22" name="text-162"/>
          <p:cNvSpPr txBox="1"/>
          <p:nvPr/>
        </p:nvSpPr>
        <p:spPr>
          <a:xfrm>
            <a:off x="8641080" y="2148840"/>
            <a:ext cx="2773375" cy="365760"/>
          </a:xfrm>
          <a:prstGeom prst="rect">
            <a:avLst/>
          </a:prstGeom>
          <a:noFill/>
          <a:ln/>
        </p:spPr>
        <p:txBody>
          <a:bodyPr wrap="square" lIns="0" tIns="0" rIns="0" bIns="0" rtlCol="0" anchor="t"/>
          <a:lstStyle/>
          <a:p>
            <a:pPr indent="0" marL="0">
              <a:buNone/>
            </a:pPr>
            <a:r>
              <a:rPr lang="en-US" sz="2000" b="1" dirty="0">
                <a:solidFill>
                  <a:schemeClr val="bg1"/>
                </a:solidFill>
              </a:rPr>
              <a:t>SMEs</a:t>
            </a:r>
            <a:endParaRPr lang="en-US" sz="2000" dirty="0"/>
          </a:p>
        </p:txBody>
      </p:sp>
      <p:sp>
        <p:nvSpPr>
          <p:cNvPr id="23" name="text-163"/>
          <p:cNvSpPr txBox="1"/>
          <p:nvPr/>
        </p:nvSpPr>
        <p:spPr>
          <a:xfrm>
            <a:off x="8641080" y="2560320"/>
            <a:ext cx="2773375" cy="457200"/>
          </a:xfrm>
          <a:prstGeom prst="rect">
            <a:avLst/>
          </a:prstGeom>
          <a:noFill/>
          <a:ln/>
        </p:spPr>
        <p:txBody>
          <a:bodyPr wrap="square" lIns="0" tIns="0" rIns="0" bIns="0" rtlCol="0" anchor="t"/>
          <a:lstStyle/>
          <a:p>
            <a:pPr indent="0" marL="0">
              <a:buNone/>
            </a:pPr>
            <a:r>
              <a:rPr lang="en-US" sz="1400" dirty="0">
                <a:solidFill>
                  <a:schemeClr val="bg1"/>
                </a:solidFill>
              </a:rPr>
              <a:t>Monthly plan</a:t>
            </a:r>
            <a:endParaRPr lang="en-US" sz="1400" dirty="0"/>
          </a:p>
        </p:txBody>
      </p:sp>
      <p:sp>
        <p:nvSpPr>
          <p:cNvPr id="24" name="box-164"/>
          <p:cNvSpPr/>
          <p:nvPr/>
        </p:nvSpPr>
        <p:spPr>
          <a:xfrm>
            <a:off x="8412480" y="3337560"/>
            <a:ext cx="3230575" cy="1188720"/>
          </a:xfrm>
          <a:prstGeom prst="rect">
            <a:avLst/>
          </a:prstGeom>
          <a:solidFill>
            <a:schemeClr val="bg1"/>
          </a:solidFill>
          <a:ln w="9525">
            <a:solidFill>
              <a:schemeClr val="accent5"/>
            </a:solidFill>
            <a:prstDash val="solid"/>
          </a:ln>
        </p:spPr>
      </p:sp>
      <p:sp>
        <p:nvSpPr>
          <p:cNvPr id="25" name="text-165"/>
          <p:cNvSpPr txBox="1"/>
          <p:nvPr/>
        </p:nvSpPr>
        <p:spPr>
          <a:xfrm>
            <a:off x="8641080" y="3520440"/>
            <a:ext cx="2773375" cy="365760"/>
          </a:xfrm>
          <a:prstGeom prst="rect">
            <a:avLst/>
          </a:prstGeom>
          <a:noFill/>
          <a:ln/>
        </p:spPr>
        <p:txBody>
          <a:bodyPr wrap="square" lIns="0" tIns="0" rIns="0" bIns="0" rtlCol="0" anchor="t"/>
          <a:lstStyle/>
          <a:p>
            <a:pPr indent="0" marL="0">
              <a:buNone/>
            </a:pPr>
            <a:r>
              <a:rPr lang="en-US" sz="2000" b="1" dirty="0">
                <a:solidFill>
                  <a:schemeClr val="tx1"/>
                </a:solidFill>
              </a:rPr>
              <a:t>Islamic banks</a:t>
            </a:r>
            <a:endParaRPr lang="en-US" sz="2000" dirty="0"/>
          </a:p>
        </p:txBody>
      </p:sp>
      <p:sp>
        <p:nvSpPr>
          <p:cNvPr id="26" name="text-166"/>
          <p:cNvSpPr txBox="1"/>
          <p:nvPr/>
        </p:nvSpPr>
        <p:spPr>
          <a:xfrm>
            <a:off x="8641080" y="3931920"/>
            <a:ext cx="2773375" cy="457200"/>
          </a:xfrm>
          <a:prstGeom prst="rect">
            <a:avLst/>
          </a:prstGeom>
          <a:noFill/>
          <a:ln/>
        </p:spPr>
        <p:txBody>
          <a:bodyPr wrap="square" lIns="0" tIns="0" rIns="0" bIns="0" rtlCol="0" anchor="t"/>
          <a:lstStyle/>
          <a:p>
            <a:pPr indent="0" marL="0">
              <a:buNone/>
            </a:pPr>
            <a:r>
              <a:rPr lang="en-US" sz="1400" dirty="0">
                <a:solidFill>
                  <a:schemeClr val="accent4"/>
                </a:solidFill>
              </a:rPr>
              <a:t>Clean, documented financing requests</a:t>
            </a:r>
            <a:endParaRPr lang="en-US" sz="1400" dirty="0"/>
          </a:p>
        </p:txBody>
      </p:sp>
      <p:sp>
        <p:nvSpPr>
          <p:cNvPr id="27" name="box-167"/>
          <p:cNvSpPr/>
          <p:nvPr/>
        </p:nvSpPr>
        <p:spPr>
          <a:xfrm>
            <a:off x="8412480" y="4709160"/>
            <a:ext cx="3230575" cy="1188720"/>
          </a:xfrm>
          <a:prstGeom prst="rect">
            <a:avLst/>
          </a:prstGeom>
          <a:solidFill>
            <a:schemeClr val="bg1"/>
          </a:solidFill>
          <a:ln w="9525">
            <a:solidFill>
              <a:schemeClr val="accent5"/>
            </a:solidFill>
            <a:prstDash val="solid"/>
          </a:ln>
        </p:spPr>
      </p:sp>
      <p:sp>
        <p:nvSpPr>
          <p:cNvPr id="28" name="text-168"/>
          <p:cNvSpPr txBox="1"/>
          <p:nvPr/>
        </p:nvSpPr>
        <p:spPr>
          <a:xfrm>
            <a:off x="8641080" y="4892040"/>
            <a:ext cx="2773375" cy="365760"/>
          </a:xfrm>
          <a:prstGeom prst="rect">
            <a:avLst/>
          </a:prstGeom>
          <a:noFill/>
          <a:ln/>
        </p:spPr>
        <p:txBody>
          <a:bodyPr wrap="square" lIns="0" tIns="0" rIns="0" bIns="0" rtlCol="0" anchor="t"/>
          <a:lstStyle/>
          <a:p>
            <a:pPr indent="0" marL="0">
              <a:buNone/>
            </a:pPr>
            <a:r>
              <a:rPr lang="en-US" sz="2000" b="1" dirty="0">
                <a:solidFill>
                  <a:schemeClr val="tx1"/>
                </a:solidFill>
              </a:rPr>
              <a:t>Suppliers</a:t>
            </a:r>
            <a:endParaRPr lang="en-US" sz="2000" dirty="0"/>
          </a:p>
        </p:txBody>
      </p:sp>
      <p:sp>
        <p:nvSpPr>
          <p:cNvPr id="29" name="text-169"/>
          <p:cNvSpPr txBox="1"/>
          <p:nvPr/>
        </p:nvSpPr>
        <p:spPr>
          <a:xfrm>
            <a:off x="8641080" y="5303520"/>
            <a:ext cx="2773375" cy="457200"/>
          </a:xfrm>
          <a:prstGeom prst="rect">
            <a:avLst/>
          </a:prstGeom>
          <a:noFill/>
          <a:ln/>
        </p:spPr>
        <p:txBody>
          <a:bodyPr wrap="square" lIns="0" tIns="0" rIns="0" bIns="0" rtlCol="0" anchor="t"/>
          <a:lstStyle/>
          <a:p>
            <a:pPr indent="0" marL="0">
              <a:buNone/>
            </a:pPr>
            <a:r>
              <a:rPr lang="en-US" sz="1400" dirty="0">
                <a:solidFill>
                  <a:schemeClr val="accent4"/>
                </a:solidFill>
              </a:rPr>
              <a:t>Listed in comparisons</a:t>
            </a:r>
            <a:endParaRPr lang="en-US" sz="14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170"/>
          <p:cNvSpPr txBox="1"/>
          <p:nvPr/>
        </p:nvSpPr>
        <p:spPr>
          <a:xfrm>
            <a:off x="548640" y="274320"/>
            <a:ext cx="11094415" cy="22860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onsolas" pitchFamily="34" charset="0"/>
                <a:ea typeface="Consolas" pitchFamily="34" charset="-122"/>
                <a:cs typeface="Consolas" pitchFamily="34" charset="-120"/>
              </a:rPr>
              <a:t>WHAT WE BUILT DURING AICON'26</a:t>
            </a:r>
            <a:endParaRPr lang="en-US" sz="1100" dirty="0"/>
          </a:p>
        </p:txBody>
      </p:sp>
      <p:sp>
        <p:nvSpPr>
          <p:cNvPr id="3" name="Text 0"/>
          <p:cNvSpPr/>
          <p:nvPr>
            <p:ph idx="100"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600" b="1" dirty="0">
                <a:solidFill>
                  <a:schemeClr val="tx1"/>
                </a:solidFill>
              </a:rPr>
              <a:t>Built here, and built to be checked</a:t>
            </a:r>
            <a:endParaRPr lang="en-US" sz="3600" dirty="0"/>
          </a:p>
        </p:txBody>
      </p:sp>
      <p:sp>
        <p:nvSpPr>
          <p:cNvPr id="4" name="text-171"/>
          <p:cNvSpPr txBox="1"/>
          <p:nvPr/>
        </p:nvSpPr>
        <p:spPr>
          <a:xfrm>
            <a:off x="548640" y="1572768"/>
            <a:ext cx="5120640" cy="27432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First commit 10 Oct 2026 · public Git history</a:t>
            </a:r>
            <a:endParaRPr lang="en-US" sz="1300" dirty="0"/>
          </a:p>
        </p:txBody>
      </p:sp>
      <p:sp>
        <p:nvSpPr>
          <p:cNvPr id="5" name="text-172"/>
          <p:cNvSpPr txBox="1"/>
          <p:nvPr/>
        </p:nvSpPr>
        <p:spPr>
          <a:xfrm>
            <a:off x="548640" y="2011680"/>
            <a:ext cx="5120640" cy="23774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Finance engine in pure TypeScript, no AI</a:t>
            </a:r>
            <a:endParaRPr lang="en-US" sz="1600" dirty="0"/>
          </a:p>
          <a:p>
            <a:pPr marL="177800" indent="-177800">
              <a:spcAft>
                <a:spcPts val="600"/>
              </a:spcAft>
              <a:buSzPct val="100000"/>
              <a:buChar char="•"/>
            </a:pPr>
            <a:r>
              <a:rPr lang="en-US" sz="1600" dirty="0">
                <a:solidFill>
                  <a:schemeClr val="tx1"/>
                </a:solidFill>
              </a:rPr>
              <a:t>9 AI tasks, each followed by a code check</a:t>
            </a:r>
            <a:endParaRPr lang="en-US" sz="1600" dirty="0"/>
          </a:p>
          <a:p>
            <a:pPr marL="177800" indent="-177800">
              <a:spcAft>
                <a:spcPts val="600"/>
              </a:spcAft>
              <a:buSzPct val="100000"/>
              <a:buChar char="•"/>
            </a:pPr>
            <a:r>
              <a:rPr lang="en-US" sz="1600" dirty="0">
                <a:solidFill>
                  <a:schemeClr val="tx1"/>
                </a:solidFill>
              </a:rPr>
              <a:t>Payment-fraud rules</a:t>
            </a:r>
            <a:endParaRPr lang="en-US" sz="1600" dirty="0"/>
          </a:p>
          <a:p>
            <a:pPr marL="177800" indent="-177800">
              <a:spcAft>
                <a:spcPts val="600"/>
              </a:spcAft>
              <a:buSzPct val="100000"/>
              <a:buChar char="•"/>
            </a:pPr>
            <a:r>
              <a:rPr lang="en-US" sz="1600" dirty="0">
                <a:solidFill>
                  <a:schemeClr val="tx1"/>
                </a:solidFill>
              </a:rPr>
              <a:t>Email loop: RFQs out, replies read</a:t>
            </a:r>
            <a:endParaRPr lang="en-US" sz="1600" dirty="0"/>
          </a:p>
          <a:p>
            <a:pPr marL="177800" indent="-177800">
              <a:spcAft>
                <a:spcPts val="600"/>
              </a:spcAft>
              <a:buSzPct val="100000"/>
              <a:buChar char="•"/>
            </a:pPr>
            <a:r>
              <a:rPr lang="en-US" sz="1600" dirty="0">
                <a:solidFill>
                  <a:schemeClr val="tx1"/>
                </a:solidFill>
              </a:rPr>
              <a:t>5-step decision workspace + dashboard</a:t>
            </a:r>
            <a:endParaRPr lang="en-US" sz="1600" dirty="0"/>
          </a:p>
          <a:p>
            <a:pPr marL="177800" indent="-177800">
              <a:spcAft>
                <a:spcPts val="600"/>
              </a:spcAft>
              <a:buSzPct val="100000"/>
              <a:buChar char="•"/>
            </a:pPr>
            <a:r>
              <a:rPr lang="en-US" sz="1600" dirty="0">
                <a:solidFill>
                  <a:schemeClr val="tx1"/>
                </a:solidFill>
              </a:rPr>
              <a:t>Login, MongoDB data layer, model benchmark</a:t>
            </a:r>
            <a:endParaRPr lang="en-US" sz="1600" dirty="0"/>
          </a:p>
        </p:txBody>
      </p:sp>
      <p:sp>
        <p:nvSpPr>
          <p:cNvPr id="6" name="box-173"/>
          <p:cNvSpPr/>
          <p:nvPr/>
        </p:nvSpPr>
        <p:spPr>
          <a:xfrm>
            <a:off x="548640" y="4709160"/>
            <a:ext cx="5120640" cy="1508760"/>
          </a:xfrm>
          <a:prstGeom prst="rect">
            <a:avLst/>
          </a:prstGeom>
          <a:solidFill>
            <a:schemeClr val="accent6"/>
          </a:solidFill>
          <a:ln/>
        </p:spPr>
      </p:sp>
      <p:sp>
        <p:nvSpPr>
          <p:cNvPr id="7" name="text-174"/>
          <p:cNvSpPr txBox="1"/>
          <p:nvPr/>
        </p:nvSpPr>
        <p:spPr>
          <a:xfrm>
            <a:off x="749808" y="4846320"/>
            <a:ext cx="4718304" cy="1280160"/>
          </a:xfrm>
          <a:prstGeom prst="rect">
            <a:avLst/>
          </a:prstGeom>
          <a:noFill/>
          <a:ln/>
        </p:spPr>
        <p:txBody>
          <a:bodyPr wrap="square" lIns="0" tIns="0" rIns="0" bIns="0" rtlCol="0" anchor="t"/>
          <a:lstStyle/>
          <a:p>
            <a:pPr indent="0" marL="0">
              <a:spcAft>
                <a:spcPts val="300"/>
              </a:spcAft>
              <a:buNone/>
            </a:pPr>
            <a:r>
              <a:rPr lang="en-US" sz="1300" b="1" dirty="0">
                <a:solidFill>
                  <a:schemeClr val="tx1"/>
                </a:solidFill>
              </a:rPr>
              <a:t>Honest disclosure</a:t>
            </a:r>
            <a:endParaRPr lang="en-US" sz="1300" dirty="0"/>
          </a:p>
          <a:p>
            <a:pPr indent="0" marL="0">
              <a:spcAft>
                <a:spcPts val="300"/>
              </a:spcAft>
              <a:buNone/>
            </a:pPr>
            <a:r>
              <a:rPr lang="en-US" sz="1300" dirty="0">
                <a:solidFill>
                  <a:schemeClr val="tx1"/>
                </a:solidFill>
              </a:rPr>
              <a:t>Simulated and labelled: the company, supplier names, price benchmark, bank desk.</a:t>
            </a:r>
            <a:endParaRPr lang="en-US" sz="1300" dirty="0"/>
          </a:p>
          <a:p>
            <a:pPr indent="0" marL="0">
              <a:spcAft>
                <a:spcPts val="300"/>
              </a:spcAft>
              <a:buNone/>
            </a:pPr>
            <a:r>
              <a:rPr lang="en-US" sz="1300" dirty="0">
                <a:solidFill>
                  <a:schemeClr val="tx1"/>
                </a:solidFill>
              </a:rPr>
              <a:t>Real: Jack F5 market prices and product reviews, with links.</a:t>
            </a:r>
            <a:endParaRPr lang="en-US" sz="1300" dirty="0"/>
          </a:p>
          <a:p>
            <a:pPr indent="0" marL="0">
              <a:spcAft>
                <a:spcPts val="300"/>
              </a:spcAft>
              <a:buNone/>
            </a:pPr>
            <a:r>
              <a:rPr lang="en-US" sz="1300" dirty="0">
                <a:solidFill>
                  <a:schemeClr val="tx1"/>
                </a:solidFill>
              </a:rPr>
              <a:t>Built with AI coding assistants (allowed by the rules).</a:t>
            </a:r>
            <a:endParaRPr lang="en-US" sz="1300" dirty="0"/>
          </a:p>
        </p:txBody>
      </p:sp>
      <p:sp>
        <p:nvSpPr>
          <p:cNvPr id="8" name="text-175"/>
          <p:cNvSpPr txBox="1"/>
          <p:nvPr/>
        </p:nvSpPr>
        <p:spPr>
          <a:xfrm>
            <a:off x="6172200" y="1572768"/>
            <a:ext cx="5470855" cy="256032"/>
          </a:xfrm>
          <a:prstGeom prst="rect">
            <a:avLst/>
          </a:prstGeom>
          <a:noFill/>
          <a:ln/>
        </p:spPr>
        <p:txBody>
          <a:bodyPr wrap="square" lIns="0" tIns="0" rIns="0" bIns="0" rtlCol="0" anchor="t"/>
          <a:lstStyle/>
          <a:p>
            <a:pPr indent="0" marL="0">
              <a:buNone/>
            </a:pPr>
            <a:r>
              <a:rPr lang="en-US" sz="1100" b="1" spc="100" kern="0" dirty="0">
                <a:solidFill>
                  <a:schemeClr val="accent4"/>
                </a:solidFill>
                <a:latin typeface="Consolas" pitchFamily="34" charset="0"/>
                <a:ea typeface="Consolas" pitchFamily="34" charset="-122"/>
                <a:cs typeface="Consolas" pitchFamily="34" charset="-120"/>
              </a:rPr>
              <a:t>ARCHITECTURE</a:t>
            </a:r>
            <a:endParaRPr lang="en-US" sz="1100" dirty="0"/>
          </a:p>
        </p:txBody>
      </p:sp>
      <p:sp>
        <p:nvSpPr>
          <p:cNvPr id="9" name="box-176"/>
          <p:cNvSpPr/>
          <p:nvPr/>
        </p:nvSpPr>
        <p:spPr>
          <a:xfrm>
            <a:off x="6172200" y="1920240"/>
            <a:ext cx="5470855" cy="457200"/>
          </a:xfrm>
          <a:prstGeom prst="rect">
            <a:avLst/>
          </a:prstGeom>
          <a:solidFill>
            <a:srgbClr val="FFFFFF">
              <a:alpha val="0"/>
            </a:srgbClr>
          </a:solidFill>
          <a:ln w="9525">
            <a:solidFill>
              <a:schemeClr val="tx1"/>
            </a:solidFill>
            <a:prstDash val="solid"/>
          </a:ln>
        </p:spPr>
      </p:sp>
      <p:sp>
        <p:nvSpPr>
          <p:cNvPr id="10" name="text-177"/>
          <p:cNvSpPr txBox="1"/>
          <p:nvPr/>
        </p:nvSpPr>
        <p:spPr>
          <a:xfrm>
            <a:off x="6172200" y="1920240"/>
            <a:ext cx="5470855" cy="457200"/>
          </a:xfrm>
          <a:prstGeom prst="rect">
            <a:avLst/>
          </a:prstGeom>
          <a:noFill/>
          <a:ln/>
        </p:spPr>
        <p:txBody>
          <a:bodyPr wrap="square" lIns="0" tIns="0" rIns="0" bIns="0" rtlCol="0" anchor="ctr"/>
          <a:lstStyle/>
          <a:p>
            <a:pPr algn="ctr" indent="0" marL="0">
              <a:buNone/>
            </a:pPr>
            <a:r>
              <a:rPr lang="en-US" sz="1300" dirty="0">
                <a:solidFill>
                  <a:schemeClr val="tx1"/>
                </a:solidFill>
              </a:rPr>
              <a:t>Browser · React 19</a:t>
            </a:r>
            <a:endParaRPr lang="en-US" sz="1300" dirty="0"/>
          </a:p>
        </p:txBody>
      </p:sp>
      <p:sp>
        <p:nvSpPr>
          <p:cNvPr id="11" name="text-178"/>
          <p:cNvSpPr txBox="1"/>
          <p:nvPr/>
        </p:nvSpPr>
        <p:spPr>
          <a:xfrm>
            <a:off x="6172200" y="2377440"/>
            <a:ext cx="5470855" cy="274320"/>
          </a:xfrm>
          <a:prstGeom prst="rect">
            <a:avLst/>
          </a:prstGeom>
          <a:noFill/>
          <a:ln/>
        </p:spPr>
        <p:txBody>
          <a:bodyPr wrap="square" lIns="0" tIns="0" rIns="0" bIns="0" rtlCol="0" anchor="t"/>
          <a:lstStyle/>
          <a:p>
            <a:pPr algn="ctr" indent="0" marL="0">
              <a:buNone/>
            </a:pPr>
            <a:r>
              <a:rPr lang="en-US" sz="1400" dirty="0">
                <a:solidFill>
                  <a:schemeClr val="accent4"/>
                </a:solidFill>
              </a:rPr>
              <a:t>↓</a:t>
            </a:r>
            <a:endParaRPr lang="en-US" sz="1400" dirty="0"/>
          </a:p>
        </p:txBody>
      </p:sp>
      <p:sp>
        <p:nvSpPr>
          <p:cNvPr id="12" name="box-179"/>
          <p:cNvSpPr/>
          <p:nvPr/>
        </p:nvSpPr>
        <p:spPr>
          <a:xfrm>
            <a:off x="6172200" y="2651760"/>
            <a:ext cx="5470855" cy="457200"/>
          </a:xfrm>
          <a:prstGeom prst="rect">
            <a:avLst/>
          </a:prstGeom>
          <a:solidFill>
            <a:schemeClr val="tx1"/>
          </a:solidFill>
          <a:ln/>
        </p:spPr>
      </p:sp>
      <p:sp>
        <p:nvSpPr>
          <p:cNvPr id="13" name="text-180"/>
          <p:cNvSpPr txBox="1"/>
          <p:nvPr/>
        </p:nvSpPr>
        <p:spPr>
          <a:xfrm>
            <a:off x="6172200" y="2651760"/>
            <a:ext cx="5470855" cy="457200"/>
          </a:xfrm>
          <a:prstGeom prst="rect">
            <a:avLst/>
          </a:prstGeom>
          <a:noFill/>
          <a:ln/>
        </p:spPr>
        <p:txBody>
          <a:bodyPr wrap="square" lIns="0" tIns="0" rIns="0" bIns="0" rtlCol="0" anchor="ctr"/>
          <a:lstStyle/>
          <a:p>
            <a:pPr algn="ctr" indent="0" marL="0">
              <a:buNone/>
            </a:pPr>
            <a:r>
              <a:rPr lang="en-US" sz="1300" dirty="0">
                <a:solidFill>
                  <a:schemeClr val="bg1"/>
                </a:solidFill>
              </a:rPr>
              <a:t>Next.js 16 on Vercel · session-checked API routes</a:t>
            </a:r>
            <a:endParaRPr lang="en-US" sz="1300" dirty="0"/>
          </a:p>
        </p:txBody>
      </p:sp>
      <p:sp>
        <p:nvSpPr>
          <p:cNvPr id="14" name="text-181"/>
          <p:cNvSpPr txBox="1"/>
          <p:nvPr/>
        </p:nvSpPr>
        <p:spPr>
          <a:xfrm>
            <a:off x="6172200" y="3108960"/>
            <a:ext cx="5470855" cy="274320"/>
          </a:xfrm>
          <a:prstGeom prst="rect">
            <a:avLst/>
          </a:prstGeom>
          <a:noFill/>
          <a:ln/>
        </p:spPr>
        <p:txBody>
          <a:bodyPr wrap="square" lIns="0" tIns="0" rIns="0" bIns="0" rtlCol="0" anchor="t"/>
          <a:lstStyle/>
          <a:p>
            <a:pPr algn="ctr" indent="0" marL="0">
              <a:buNone/>
            </a:pPr>
            <a:r>
              <a:rPr lang="en-US" sz="1400" dirty="0">
                <a:solidFill>
                  <a:schemeClr val="accent4"/>
                </a:solidFill>
              </a:rPr>
              <a:t>↓</a:t>
            </a:r>
            <a:endParaRPr lang="en-US" sz="1400" dirty="0"/>
          </a:p>
        </p:txBody>
      </p:sp>
      <p:sp>
        <p:nvSpPr>
          <p:cNvPr id="15" name="box-182"/>
          <p:cNvSpPr/>
          <p:nvPr/>
        </p:nvSpPr>
        <p:spPr>
          <a:xfrm>
            <a:off x="6172200" y="3383280"/>
            <a:ext cx="1285418" cy="457200"/>
          </a:xfrm>
          <a:prstGeom prst="rect">
            <a:avLst/>
          </a:prstGeom>
          <a:solidFill>
            <a:srgbClr val="FFFFFF">
              <a:alpha val="0"/>
            </a:srgbClr>
          </a:solidFill>
          <a:ln w="9525">
            <a:solidFill>
              <a:schemeClr val="tx1"/>
            </a:solidFill>
            <a:prstDash val="solid"/>
          </a:ln>
        </p:spPr>
      </p:sp>
      <p:sp>
        <p:nvSpPr>
          <p:cNvPr id="16" name="text-183"/>
          <p:cNvSpPr txBox="1"/>
          <p:nvPr/>
        </p:nvSpPr>
        <p:spPr>
          <a:xfrm>
            <a:off x="6172200" y="3383280"/>
            <a:ext cx="1285418" cy="457200"/>
          </a:xfrm>
          <a:prstGeom prst="rect">
            <a:avLst/>
          </a:prstGeom>
          <a:noFill/>
          <a:ln/>
        </p:spPr>
        <p:txBody>
          <a:bodyPr wrap="square" lIns="0" tIns="0" rIns="0" bIns="0" rtlCol="0" anchor="ctr"/>
          <a:lstStyle/>
          <a:p>
            <a:pPr algn="ctr" indent="0" marL="0">
              <a:buNone/>
            </a:pPr>
            <a:r>
              <a:rPr lang="en-US" sz="1200" dirty="0">
                <a:solidFill>
                  <a:schemeClr val="tx1"/>
                </a:solidFill>
              </a:rPr>
              <a:t>OpenAI</a:t>
            </a:r>
            <a:endParaRPr lang="en-US" sz="1200" dirty="0"/>
          </a:p>
        </p:txBody>
      </p:sp>
      <p:sp>
        <p:nvSpPr>
          <p:cNvPr id="17" name="box-184"/>
          <p:cNvSpPr/>
          <p:nvPr/>
        </p:nvSpPr>
        <p:spPr>
          <a:xfrm>
            <a:off x="7567346" y="3383280"/>
            <a:ext cx="1285418" cy="457200"/>
          </a:xfrm>
          <a:prstGeom prst="rect">
            <a:avLst/>
          </a:prstGeom>
          <a:solidFill>
            <a:srgbClr val="FFFFFF">
              <a:alpha val="0"/>
            </a:srgbClr>
          </a:solidFill>
          <a:ln w="9525">
            <a:solidFill>
              <a:schemeClr val="tx1"/>
            </a:solidFill>
            <a:prstDash val="solid"/>
          </a:ln>
        </p:spPr>
      </p:sp>
      <p:sp>
        <p:nvSpPr>
          <p:cNvPr id="18" name="text-185"/>
          <p:cNvSpPr txBox="1"/>
          <p:nvPr/>
        </p:nvSpPr>
        <p:spPr>
          <a:xfrm>
            <a:off x="7567346" y="3383280"/>
            <a:ext cx="1285418" cy="457200"/>
          </a:xfrm>
          <a:prstGeom prst="rect">
            <a:avLst/>
          </a:prstGeom>
          <a:noFill/>
          <a:ln/>
        </p:spPr>
        <p:txBody>
          <a:bodyPr wrap="square" lIns="0" tIns="0" rIns="0" bIns="0" rtlCol="0" anchor="ctr"/>
          <a:lstStyle/>
          <a:p>
            <a:pPr algn="ctr" indent="0" marL="0">
              <a:buNone/>
            </a:pPr>
            <a:r>
              <a:rPr lang="en-US" sz="1200" dirty="0">
                <a:solidFill>
                  <a:schemeClr val="tx1"/>
                </a:solidFill>
              </a:rPr>
              <a:t>Tavily search</a:t>
            </a:r>
            <a:endParaRPr lang="en-US" sz="1200" dirty="0"/>
          </a:p>
        </p:txBody>
      </p:sp>
      <p:sp>
        <p:nvSpPr>
          <p:cNvPr id="19" name="box-186"/>
          <p:cNvSpPr/>
          <p:nvPr/>
        </p:nvSpPr>
        <p:spPr>
          <a:xfrm>
            <a:off x="8962492" y="3383280"/>
            <a:ext cx="1285418" cy="457200"/>
          </a:xfrm>
          <a:prstGeom prst="rect">
            <a:avLst/>
          </a:prstGeom>
          <a:solidFill>
            <a:srgbClr val="FFFFFF">
              <a:alpha val="0"/>
            </a:srgbClr>
          </a:solidFill>
          <a:ln w="9525">
            <a:solidFill>
              <a:schemeClr val="tx1"/>
            </a:solidFill>
            <a:prstDash val="solid"/>
          </a:ln>
        </p:spPr>
      </p:sp>
      <p:sp>
        <p:nvSpPr>
          <p:cNvPr id="20" name="text-187"/>
          <p:cNvSpPr txBox="1"/>
          <p:nvPr/>
        </p:nvSpPr>
        <p:spPr>
          <a:xfrm>
            <a:off x="8962492" y="3383280"/>
            <a:ext cx="1285418" cy="457200"/>
          </a:xfrm>
          <a:prstGeom prst="rect">
            <a:avLst/>
          </a:prstGeom>
          <a:noFill/>
          <a:ln/>
        </p:spPr>
        <p:txBody>
          <a:bodyPr wrap="square" lIns="0" tIns="0" rIns="0" bIns="0" rtlCol="0" anchor="ctr"/>
          <a:lstStyle/>
          <a:p>
            <a:pPr algn="ctr" indent="0" marL="0">
              <a:buNone/>
            </a:pPr>
            <a:r>
              <a:rPr lang="en-US" sz="1200" dirty="0">
                <a:solidFill>
                  <a:schemeClr val="tx1"/>
                </a:solidFill>
              </a:rPr>
              <a:t>Gmail</a:t>
            </a:r>
            <a:endParaRPr lang="en-US" sz="1200" dirty="0"/>
          </a:p>
        </p:txBody>
      </p:sp>
      <p:sp>
        <p:nvSpPr>
          <p:cNvPr id="21" name="box-188"/>
          <p:cNvSpPr/>
          <p:nvPr/>
        </p:nvSpPr>
        <p:spPr>
          <a:xfrm>
            <a:off x="10357637" y="3383280"/>
            <a:ext cx="1285418" cy="457200"/>
          </a:xfrm>
          <a:prstGeom prst="rect">
            <a:avLst/>
          </a:prstGeom>
          <a:solidFill>
            <a:schemeClr val="accent1"/>
          </a:solidFill>
          <a:ln/>
        </p:spPr>
      </p:sp>
      <p:sp>
        <p:nvSpPr>
          <p:cNvPr id="22" name="text-189"/>
          <p:cNvSpPr txBox="1"/>
          <p:nvPr/>
        </p:nvSpPr>
        <p:spPr>
          <a:xfrm>
            <a:off x="10357637" y="3383280"/>
            <a:ext cx="1285418" cy="457200"/>
          </a:xfrm>
          <a:prstGeom prst="rect">
            <a:avLst/>
          </a:prstGeom>
          <a:noFill/>
          <a:ln/>
        </p:spPr>
        <p:txBody>
          <a:bodyPr wrap="square" lIns="0" tIns="0" rIns="0" bIns="0" rtlCol="0" anchor="ctr"/>
          <a:lstStyle/>
          <a:p>
            <a:pPr algn="ctr" indent="0" marL="0">
              <a:buNone/>
            </a:pPr>
            <a:r>
              <a:rPr lang="en-US" sz="1200" dirty="0">
                <a:solidFill>
                  <a:schemeClr val="bg1"/>
                </a:solidFill>
                <a:latin typeface="Consolas" pitchFamily="34" charset="0"/>
                <a:ea typeface="Consolas" pitchFamily="34" charset="-122"/>
                <a:cs typeface="Consolas" pitchFamily="34" charset="-120"/>
              </a:rPr>
              <a:t>finance.ts</a:t>
            </a:r>
            <a:endParaRPr lang="en-US" sz="1200" dirty="0"/>
          </a:p>
        </p:txBody>
      </p:sp>
      <p:sp>
        <p:nvSpPr>
          <p:cNvPr id="23" name="text-190"/>
          <p:cNvSpPr txBox="1"/>
          <p:nvPr/>
        </p:nvSpPr>
        <p:spPr>
          <a:xfrm>
            <a:off x="6172200" y="3840480"/>
            <a:ext cx="5470855" cy="274320"/>
          </a:xfrm>
          <a:prstGeom prst="rect">
            <a:avLst/>
          </a:prstGeom>
          <a:noFill/>
          <a:ln/>
        </p:spPr>
        <p:txBody>
          <a:bodyPr wrap="square" lIns="0" tIns="0" rIns="0" bIns="0" rtlCol="0" anchor="t"/>
          <a:lstStyle/>
          <a:p>
            <a:pPr algn="ctr" indent="0" marL="0">
              <a:buNone/>
            </a:pPr>
            <a:r>
              <a:rPr lang="en-US" sz="1400" dirty="0">
                <a:solidFill>
                  <a:schemeClr val="accent4"/>
                </a:solidFill>
              </a:rPr>
              <a:t>↓</a:t>
            </a:r>
            <a:endParaRPr lang="en-US" sz="1400" dirty="0"/>
          </a:p>
        </p:txBody>
      </p:sp>
      <p:sp>
        <p:nvSpPr>
          <p:cNvPr id="24" name="box-191"/>
          <p:cNvSpPr/>
          <p:nvPr/>
        </p:nvSpPr>
        <p:spPr>
          <a:xfrm>
            <a:off x="6172200" y="4114800"/>
            <a:ext cx="5470855" cy="457200"/>
          </a:xfrm>
          <a:prstGeom prst="rect">
            <a:avLst/>
          </a:prstGeom>
          <a:solidFill>
            <a:srgbClr val="FFFFFF">
              <a:alpha val="0"/>
            </a:srgbClr>
          </a:solidFill>
          <a:ln w="9525">
            <a:solidFill>
              <a:schemeClr val="tx1"/>
            </a:solidFill>
            <a:prstDash val="solid"/>
          </a:ln>
        </p:spPr>
      </p:sp>
      <p:sp>
        <p:nvSpPr>
          <p:cNvPr id="25" name="text-192"/>
          <p:cNvSpPr txBox="1"/>
          <p:nvPr/>
        </p:nvSpPr>
        <p:spPr>
          <a:xfrm>
            <a:off x="6172200" y="4114800"/>
            <a:ext cx="5470855" cy="457200"/>
          </a:xfrm>
          <a:prstGeom prst="rect">
            <a:avLst/>
          </a:prstGeom>
          <a:noFill/>
          <a:ln/>
        </p:spPr>
        <p:txBody>
          <a:bodyPr wrap="square" lIns="0" tIns="0" rIns="0" bIns="0" rtlCol="0" anchor="ctr"/>
          <a:lstStyle/>
          <a:p>
            <a:pPr algn="ctr" indent="0" marL="0">
              <a:buNone/>
            </a:pPr>
            <a:r>
              <a:rPr lang="en-US" sz="1300" dirty="0">
                <a:solidFill>
                  <a:schemeClr val="tx1"/>
                </a:solidFill>
              </a:rPr>
              <a:t>MongoDB Atlas · users, companies, decisions</a:t>
            </a:r>
            <a:endParaRPr lang="en-US" sz="1300" dirty="0"/>
          </a:p>
        </p:txBody>
      </p:sp>
      <p:sp>
        <p:nvSpPr>
          <p:cNvPr id="26" name="box-193"/>
          <p:cNvSpPr/>
          <p:nvPr/>
        </p:nvSpPr>
        <p:spPr>
          <a:xfrm>
            <a:off x="6172200" y="4846320"/>
            <a:ext cx="1600200" cy="1371600"/>
          </a:xfrm>
          <a:prstGeom prst="rect">
            <a:avLst/>
          </a:prstGeom>
          <a:solidFill>
            <a:schemeClr val="accent1"/>
          </a:solidFill>
          <a:ln/>
        </p:spPr>
      </p:sp>
      <p:sp>
        <p:nvSpPr>
          <p:cNvPr id="27" name="text-194"/>
          <p:cNvSpPr txBox="1"/>
          <p:nvPr/>
        </p:nvSpPr>
        <p:spPr>
          <a:xfrm>
            <a:off x="6172200" y="4937760"/>
            <a:ext cx="1600200" cy="640080"/>
          </a:xfrm>
          <a:prstGeom prst="rect">
            <a:avLst/>
          </a:prstGeom>
          <a:noFill/>
          <a:ln/>
        </p:spPr>
        <p:txBody>
          <a:bodyPr wrap="square" lIns="0" tIns="0" rIns="0" bIns="0" rtlCol="0" anchor="t"/>
          <a:lstStyle/>
          <a:p>
            <a:pPr algn="ctr" indent="0" marL="0">
              <a:buNone/>
            </a:pPr>
            <a:r>
              <a:rPr lang="en-US" sz="3600" b="1" dirty="0">
                <a:solidFill>
                  <a:schemeClr val="bg1"/>
                </a:solidFill>
                <a:latin typeface="Consolas" pitchFamily="34" charset="0"/>
                <a:ea typeface="Consolas" pitchFamily="34" charset="-122"/>
                <a:cs typeface="Consolas" pitchFamily="34" charset="-120"/>
              </a:rPr>
              <a:t>145</a:t>
            </a:r>
            <a:endParaRPr lang="en-US" sz="3600" dirty="0"/>
          </a:p>
        </p:txBody>
      </p:sp>
      <p:sp>
        <p:nvSpPr>
          <p:cNvPr id="28" name="text-195"/>
          <p:cNvSpPr txBox="1"/>
          <p:nvPr/>
        </p:nvSpPr>
        <p:spPr>
          <a:xfrm>
            <a:off x="6172200" y="5623560"/>
            <a:ext cx="1600200" cy="457200"/>
          </a:xfrm>
          <a:prstGeom prst="rect">
            <a:avLst/>
          </a:prstGeom>
          <a:noFill/>
          <a:ln/>
        </p:spPr>
        <p:txBody>
          <a:bodyPr wrap="square" lIns="0" tIns="0" rIns="0" bIns="0" rtlCol="0" anchor="t"/>
          <a:lstStyle/>
          <a:p>
            <a:pPr algn="ctr" indent="0" marL="0">
              <a:buNone/>
            </a:pPr>
            <a:r>
              <a:rPr lang="en-US" sz="1300" dirty="0">
                <a:solidFill>
                  <a:schemeClr val="bg1"/>
                </a:solidFill>
              </a:rPr>
              <a:t>automated tests</a:t>
            </a:r>
            <a:endParaRPr lang="en-US" sz="1300" dirty="0"/>
          </a:p>
        </p:txBody>
      </p:sp>
      <p:sp>
        <p:nvSpPr>
          <p:cNvPr id="29" name="box-196"/>
          <p:cNvSpPr/>
          <p:nvPr/>
        </p:nvSpPr>
        <p:spPr>
          <a:xfrm>
            <a:off x="7955280" y="4846320"/>
            <a:ext cx="3687775" cy="1371600"/>
          </a:xfrm>
          <a:prstGeom prst="rect">
            <a:avLst/>
          </a:prstGeom>
          <a:solidFill>
            <a:schemeClr val="bg1"/>
          </a:solidFill>
          <a:ln w="15875">
            <a:solidFill>
              <a:schemeClr val="accent1"/>
            </a:solidFill>
            <a:prstDash val="solid"/>
          </a:ln>
        </p:spPr>
      </p:sp>
      <p:sp>
        <p:nvSpPr>
          <p:cNvPr id="30" name="text-197"/>
          <p:cNvSpPr txBox="1"/>
          <p:nvPr/>
        </p:nvSpPr>
        <p:spPr>
          <a:xfrm>
            <a:off x="8138160" y="4956048"/>
            <a:ext cx="3322015" cy="548640"/>
          </a:xfrm>
          <a:prstGeom prst="rect">
            <a:avLst/>
          </a:prstGeom>
          <a:noFill/>
          <a:ln/>
        </p:spPr>
        <p:txBody>
          <a:bodyPr wrap="square" lIns="0" tIns="0" rIns="0" bIns="0" rtlCol="0" anchor="t"/>
          <a:lstStyle/>
          <a:p>
            <a:pPr indent="0" marL="0">
              <a:buNone/>
            </a:pPr>
            <a:r>
              <a:rPr lang="en-US" sz="1500" b="1" dirty="0">
                <a:solidFill>
                  <a:schemeClr val="accent1"/>
                </a:solidFill>
              </a:rPr>
              <a:t>✓ Every number checked against the calculation</a:t>
            </a:r>
            <a:endParaRPr lang="en-US" sz="1500" dirty="0"/>
          </a:p>
        </p:txBody>
      </p:sp>
      <p:sp>
        <p:nvSpPr>
          <p:cNvPr id="31" name="text-198"/>
          <p:cNvSpPr txBox="1"/>
          <p:nvPr/>
        </p:nvSpPr>
        <p:spPr>
          <a:xfrm>
            <a:off x="8138160" y="5486400"/>
            <a:ext cx="3322015" cy="640080"/>
          </a:xfrm>
          <a:prstGeom prst="rect">
            <a:avLst/>
          </a:prstGeom>
          <a:noFill/>
          <a:ln/>
        </p:spPr>
        <p:txBody>
          <a:bodyPr wrap="square" lIns="0" tIns="0" rIns="0" bIns="0" rtlCol="0" anchor="t"/>
          <a:lstStyle/>
          <a:p>
            <a:pPr indent="0" marL="0">
              <a:buNone/>
            </a:pPr>
            <a:r>
              <a:rPr lang="en-US" sz="1300" dirty="0">
                <a:solidFill>
                  <a:schemeClr val="tx1"/>
                </a:solidFill>
              </a:rPr>
              <a:t>Code compares every figure in the AI-written memo with the comparison. “Show calculation” on every row.</a:t>
            </a:r>
            <a:endParaRPr lang="en-US" sz="13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6949440" cy="914400"/>
          </a:xfrm>
          <a:prstGeom prst="rect">
            <a:avLst/>
          </a:prstGeom>
          <a:noFill/>
          <a:ln/>
        </p:spPr>
        <p:txBody>
          <a:bodyPr wrap="square" lIns="0" tIns="0" rIns="0" bIns="0" rtlCol="0" anchor="t"/>
          <a:lstStyle/>
          <a:p>
            <a:pPr algn="l" indent="0" marL="0">
              <a:buNone/>
            </a:pPr>
            <a:r>
              <a:rPr lang="en-US" sz="5400" b="1" dirty="0">
                <a:solidFill>
                  <a:schemeClr val="bg1"/>
                </a:solidFill>
              </a:rPr>
              <a:t>Try it now</a:t>
            </a:r>
            <a:endParaRPr lang="en-US" sz="5400" dirty="0"/>
          </a:p>
        </p:txBody>
      </p:sp>
      <p:sp>
        <p:nvSpPr>
          <p:cNvPr id="3" name="text-199"/>
          <p:cNvSpPr txBox="1"/>
          <p:nvPr/>
        </p:nvSpPr>
        <p:spPr>
          <a:xfrm>
            <a:off x="548640" y="2057400"/>
            <a:ext cx="6766560" cy="256032"/>
          </a:xfrm>
          <a:prstGeom prst="rect">
            <a:avLst/>
          </a:prstGeom>
          <a:noFill/>
          <a:ln/>
        </p:spPr>
        <p:txBody>
          <a:bodyPr wrap="square" lIns="0" tIns="0" rIns="0" bIns="0" rtlCol="0" anchor="t"/>
          <a:lstStyle/>
          <a:p>
            <a:pPr indent="0" marL="0">
              <a:buNone/>
            </a:pPr>
            <a:r>
              <a:rPr lang="en-US" sz="1100" spc="100" kern="0" dirty="0">
                <a:solidFill>
                  <a:schemeClr val="bg2"/>
                </a:solidFill>
                <a:latin typeface="Consolas" pitchFamily="34" charset="0"/>
                <a:ea typeface="Consolas" pitchFamily="34" charset="-122"/>
                <a:cs typeface="Consolas" pitchFamily="34" charset="-120"/>
              </a:rPr>
              <a:t>LIVE APP</a:t>
            </a:r>
            <a:endParaRPr lang="en-US" sz="1100" dirty="0"/>
          </a:p>
        </p:txBody>
      </p:sp>
      <p:sp>
        <p:nvSpPr>
          <p:cNvPr id="4" name="text-200"/>
          <p:cNvSpPr txBox="1"/>
          <p:nvPr/>
        </p:nvSpPr>
        <p:spPr>
          <a:xfrm>
            <a:off x="548640" y="2331720"/>
            <a:ext cx="6949440" cy="457200"/>
          </a:xfrm>
          <a:prstGeom prst="rect">
            <a:avLst/>
          </a:prstGeom>
          <a:noFill/>
          <a:ln/>
        </p:spPr>
        <p:txBody>
          <a:bodyPr wrap="square" lIns="0" tIns="0" rIns="0" bIns="0" rtlCol="0" anchor="t"/>
          <a:lstStyle/>
          <a:p>
            <a:pPr indent="0" marL="0">
              <a:buNone/>
            </a:pPr>
            <a:r>
              <a:rPr lang="en-US" sz="3000" b="1" dirty="0">
                <a:solidFill>
                  <a:schemeClr val="bg1"/>
                </a:solidFill>
                <a:latin typeface="Consolas" pitchFamily="34" charset="0"/>
                <a:ea typeface="Consolas" pitchFamily="34" charset="-122"/>
                <a:cs typeface="Consolas" pitchFamily="34" charset="-120"/>
              </a:rPr>
              <a:t>faisla-xi.vercel.app</a:t>
            </a:r>
            <a:endParaRPr lang="en-US" sz="3000" dirty="0"/>
          </a:p>
        </p:txBody>
      </p:sp>
      <p:sp>
        <p:nvSpPr>
          <p:cNvPr id="5" name="text-201"/>
          <p:cNvSpPr txBox="1"/>
          <p:nvPr/>
        </p:nvSpPr>
        <p:spPr>
          <a:xfrm>
            <a:off x="548640" y="2926080"/>
            <a:ext cx="6766560" cy="256032"/>
          </a:xfrm>
          <a:prstGeom prst="rect">
            <a:avLst/>
          </a:prstGeom>
          <a:noFill/>
          <a:ln/>
        </p:spPr>
        <p:txBody>
          <a:bodyPr wrap="square" lIns="0" tIns="0" rIns="0" bIns="0" rtlCol="0" anchor="t"/>
          <a:lstStyle/>
          <a:p>
            <a:pPr indent="0" marL="0">
              <a:buNone/>
            </a:pPr>
            <a:r>
              <a:rPr lang="en-US" sz="1100" spc="100" kern="0" dirty="0">
                <a:solidFill>
                  <a:schemeClr val="bg2"/>
                </a:solidFill>
                <a:latin typeface="Consolas" pitchFamily="34" charset="0"/>
                <a:ea typeface="Consolas" pitchFamily="34" charset="-122"/>
                <a:cs typeface="Consolas" pitchFamily="34" charset="-120"/>
              </a:rPr>
              <a:t>DEMO LOGIN</a:t>
            </a:r>
            <a:endParaRPr lang="en-US" sz="1100" dirty="0"/>
          </a:p>
        </p:txBody>
      </p:sp>
      <p:sp>
        <p:nvSpPr>
          <p:cNvPr id="6" name="text-202"/>
          <p:cNvSpPr txBox="1"/>
          <p:nvPr/>
        </p:nvSpPr>
        <p:spPr>
          <a:xfrm>
            <a:off x="548640" y="3200400"/>
            <a:ext cx="6949440" cy="457200"/>
          </a:xfrm>
          <a:prstGeom prst="rect">
            <a:avLst/>
          </a:prstGeom>
          <a:noFill/>
          <a:ln/>
        </p:spPr>
        <p:txBody>
          <a:bodyPr wrap="square" lIns="0" tIns="0" rIns="0" bIns="0" rtlCol="0" anchor="t"/>
          <a:lstStyle/>
          <a:p>
            <a:pPr indent="0" marL="0">
              <a:buNone/>
            </a:pPr>
            <a:r>
              <a:rPr lang="en-US" sz="2200" b="1" dirty="0">
                <a:solidFill>
                  <a:schemeClr val="bg1"/>
                </a:solidFill>
                <a:latin typeface="Consolas" pitchFamily="34" charset="0"/>
                <a:ea typeface="Consolas" pitchFamily="34" charset="-122"/>
                <a:cs typeface="Consolas" pitchFamily="34" charset="-120"/>
              </a:rPr>
              <a:t>demo@faisla.pk  /  faisla2026</a:t>
            </a:r>
            <a:endParaRPr lang="en-US" sz="2200" dirty="0"/>
          </a:p>
        </p:txBody>
      </p:sp>
      <p:sp>
        <p:nvSpPr>
          <p:cNvPr id="7" name="text-203"/>
          <p:cNvSpPr txBox="1"/>
          <p:nvPr/>
        </p:nvSpPr>
        <p:spPr>
          <a:xfrm>
            <a:off x="548640" y="3794760"/>
            <a:ext cx="6766560" cy="256032"/>
          </a:xfrm>
          <a:prstGeom prst="rect">
            <a:avLst/>
          </a:prstGeom>
          <a:noFill/>
          <a:ln/>
        </p:spPr>
        <p:txBody>
          <a:bodyPr wrap="square" lIns="0" tIns="0" rIns="0" bIns="0" rtlCol="0" anchor="t"/>
          <a:lstStyle/>
          <a:p>
            <a:pPr indent="0" marL="0">
              <a:buNone/>
            </a:pPr>
            <a:r>
              <a:rPr lang="en-US" sz="1100" spc="100" kern="0" dirty="0">
                <a:solidFill>
                  <a:schemeClr val="bg2"/>
                </a:solidFill>
                <a:latin typeface="Consolas" pitchFamily="34" charset="0"/>
                <a:ea typeface="Consolas" pitchFamily="34" charset="-122"/>
                <a:cs typeface="Consolas" pitchFamily="34" charset="-120"/>
              </a:rPr>
              <a:t>CODE</a:t>
            </a:r>
            <a:endParaRPr lang="en-US" sz="1100" dirty="0"/>
          </a:p>
        </p:txBody>
      </p:sp>
      <p:sp>
        <p:nvSpPr>
          <p:cNvPr id="8" name="text-204"/>
          <p:cNvSpPr txBox="1"/>
          <p:nvPr/>
        </p:nvSpPr>
        <p:spPr>
          <a:xfrm>
            <a:off x="548640" y="4069080"/>
            <a:ext cx="6949440" cy="457200"/>
          </a:xfrm>
          <a:prstGeom prst="rect">
            <a:avLst/>
          </a:prstGeom>
          <a:noFill/>
          <a:ln/>
        </p:spPr>
        <p:txBody>
          <a:bodyPr wrap="square" lIns="0" tIns="0" rIns="0" bIns="0" rtlCol="0" anchor="t"/>
          <a:lstStyle/>
          <a:p>
            <a:pPr indent="0" marL="0">
              <a:buNone/>
            </a:pPr>
            <a:r>
              <a:rPr lang="en-US" sz="2200" b="1" dirty="0">
                <a:solidFill>
                  <a:schemeClr val="bg1"/>
                </a:solidFill>
                <a:latin typeface="Consolas" pitchFamily="34" charset="0"/>
                <a:ea typeface="Consolas" pitchFamily="34" charset="-122"/>
                <a:cs typeface="Consolas" pitchFamily="34" charset="-120"/>
              </a:rPr>
              <a:t>github.com/NotHamxa/faisla</a:t>
            </a:r>
            <a:endParaRPr lang="en-US" sz="2200" dirty="0"/>
          </a:p>
        </p:txBody>
      </p:sp>
      <p:sp>
        <p:nvSpPr>
          <p:cNvPr id="9" name="text-205"/>
          <p:cNvSpPr txBox="1"/>
          <p:nvPr/>
        </p:nvSpPr>
        <p:spPr>
          <a:xfrm>
            <a:off x="548640" y="4800600"/>
            <a:ext cx="6858000" cy="685800"/>
          </a:xfrm>
          <a:prstGeom prst="rect">
            <a:avLst/>
          </a:prstGeom>
          <a:noFill/>
          <a:ln/>
        </p:spPr>
        <p:txBody>
          <a:bodyPr wrap="square" lIns="0" tIns="0" rIns="0" bIns="0" rtlCol="0" anchor="t"/>
          <a:lstStyle/>
          <a:p>
            <a:pPr indent="0" marL="0">
              <a:buNone/>
            </a:pPr>
            <a:r>
              <a:rPr lang="en-US" sz="1600" b="1" dirty="0">
                <a:solidFill>
                  <a:schemeClr val="bg1"/>
                </a:solidFill>
              </a:rPr>
              <a:t>Next: </a:t>
            </a:r>
            <a:pPr indent="0" marL="0">
              <a:buNone/>
            </a:pPr>
            <a:r>
              <a:rPr lang="en-US" sz="1600" dirty="0">
                <a:solidFill>
                  <a:schemeClr val="bg2"/>
                </a:solidFill>
              </a:rPr>
              <a:t>WhatsApp quotes and replies · tracking payments after the decision · working-capital decisions · Urdu interface</a:t>
            </a:r>
            <a:endParaRPr lang="en-US" sz="1600" dirty="0"/>
          </a:p>
        </p:txBody>
      </p:sp>
      <p:sp>
        <p:nvSpPr>
          <p:cNvPr id="10" name="text-206"/>
          <p:cNvSpPr txBox="1"/>
          <p:nvPr/>
        </p:nvSpPr>
        <p:spPr>
          <a:xfrm>
            <a:off x="548640" y="5897880"/>
            <a:ext cx="7772400" cy="365760"/>
          </a:xfrm>
          <a:prstGeom prst="rect">
            <a:avLst/>
          </a:prstGeom>
          <a:noFill/>
          <a:ln/>
        </p:spPr>
        <p:txBody>
          <a:bodyPr wrap="square" lIns="0" tIns="0" rIns="0" bIns="0" rtlCol="0" anchor="t"/>
          <a:lstStyle/>
          <a:p>
            <a:pPr indent="0" marL="0">
              <a:buNone/>
            </a:pPr>
            <a:r>
              <a:rPr lang="en-US" sz="1600" dirty="0">
                <a:solidFill>
                  <a:schemeClr val="bg2"/>
                </a:solidFill>
              </a:rPr>
              <a:t>AI reads, code calculates, the owner decides.  فیصلہ</a:t>
            </a:r>
            <a:endParaRPr lang="en-US" sz="1600" dirty="0"/>
          </a:p>
        </p:txBody>
      </p:sp>
      <p:sp>
        <p:nvSpPr>
          <p:cNvPr id="11" name="box-207"/>
          <p:cNvSpPr/>
          <p:nvPr/>
        </p:nvSpPr>
        <p:spPr>
          <a:xfrm>
            <a:off x="8122615" y="960120"/>
            <a:ext cx="3657600" cy="3657600"/>
          </a:xfrm>
          <a:prstGeom prst="rect">
            <a:avLst/>
          </a:prstGeom>
          <a:solidFill>
            <a:schemeClr val="bg1"/>
          </a:solidFill>
          <a:ln/>
        </p:spPr>
      </p:sp>
      <p:pic>
        <p:nvPicPr>
          <p:cNvPr id="12" name="qr-208" descr="QR code for https://faisla-xi.vercel.app">    </p:cNvPr>
          <p:cNvPicPr>
            <a:picLocks noChangeAspect="1"/>
          </p:cNvPicPr>
          <p:nvPr/>
        </p:nvPicPr>
        <p:blipFill>
          <a:blip r:embed="rId1"/>
          <a:stretch>
            <a:fillRect/>
          </a:stretch>
        </p:blipFill>
        <p:spPr>
          <a:xfrm>
            <a:off x="8259775" y="1097280"/>
            <a:ext cx="3383280" cy="3383280"/>
          </a:xfrm>
          <a:prstGeom prst="rect">
            <a:avLst/>
          </a:prstGeom>
        </p:spPr>
      </p:pic>
      <p:sp>
        <p:nvSpPr>
          <p:cNvPr id="13" name="text-209"/>
          <p:cNvSpPr txBox="1"/>
          <p:nvPr/>
        </p:nvSpPr>
        <p:spPr>
          <a:xfrm>
            <a:off x="8122615" y="4754880"/>
            <a:ext cx="3657600" cy="320040"/>
          </a:xfrm>
          <a:prstGeom prst="rect">
            <a:avLst/>
          </a:prstGeom>
          <a:noFill/>
          <a:ln/>
        </p:spPr>
        <p:txBody>
          <a:bodyPr wrap="square" lIns="0" tIns="0" rIns="0" bIns="0" rtlCol="0" anchor="t"/>
          <a:lstStyle/>
          <a:p>
            <a:pPr algn="ctr" indent="0" marL="0">
              <a:buNone/>
            </a:pPr>
            <a:r>
              <a:rPr lang="en-US" sz="1400" dirty="0">
                <a:solidFill>
                  <a:schemeClr val="bg1"/>
                </a:solidFill>
              </a:rPr>
              <a:t>Scan to open the live app</a:t>
            </a:r>
            <a:endParaRPr lang="en-US" sz="1400" dirty="0"/>
          </a:p>
        </p:txBody>
      </p:sp>
    </p:spTree>
  </p:cSld>
  <p:clrMapOvr>
    <a:masterClrMapping/>
  </p:clrMapOvr>
</p:sld>
</file>

<file path=ppt/theme/theme1.xml><?xml version="1.0" encoding="utf-8"?>
<a:theme xmlns:a="http://schemas.openxmlformats.org/drawingml/2006/main" name="Faisla Ledger">
  <a:themeElements>
    <a:clrScheme name="Faisla Ledger">
      <a:dk1>
        <a:srgbClr val="1B2A25"/>
      </a:dk1>
      <a:lt1>
        <a:srgbClr val="FFFFFF"/>
      </a:lt1>
      <a:dk2>
        <a:srgbClr val="1F5C45"/>
      </a:dk2>
      <a:lt2>
        <a:srgbClr val="F3F6F3"/>
      </a:lt2>
      <a:accent1>
        <a:srgbClr val="1F5C45"/>
      </a:accent1>
      <a:accent2>
        <a:srgbClr val="9A5B00"/>
      </a:accent2>
      <a:accent3>
        <a:srgbClr val="B42318"/>
      </a:accent3>
      <a:accent4>
        <a:srgbClr val="5F6B66"/>
      </a:accent4>
      <a:accent5>
        <a:srgbClr val="CBD3CE"/>
      </a:accent5>
      <a:accent6>
        <a:srgbClr val="E4EBE7"/>
      </a:accent6>
      <a:hlink>
        <a:srgbClr val="1F5C45"/>
      </a:hlink>
      <a:folHlink>
        <a:srgbClr val="1F5C45"/>
      </a:folHlink>
    </a:clrScheme>
    <a:fontScheme name="Faisla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Team CodeStorm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Faisla - CFO-in-a-box for Pakistani SMEs</dc:title>
  <dc:subject>AICON'26 Build With AI - Financial Operations</dc:subject>
  <dc:creator>Team CodeStorm</dc:creator>
  <cp:lastModifiedBy>Team CodeStorm</cp:lastModifiedBy>
  <cp:revision>1</cp:revision>
  <dcterms:created xsi:type="dcterms:W3CDTF">2026-10-10T15:12:23Z</dcterms:created>
  <dcterms:modified xsi:type="dcterms:W3CDTF">2026-10-10T15:12:23Z</dcterms:modified>
</cp:coreProperties>
</file>